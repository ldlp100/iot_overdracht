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5" r:id="rId5"/>
    <p:sldId id="267" r:id="rId6"/>
    <p:sldId id="263" r:id="rId7"/>
    <p:sldId id="259" r:id="rId8"/>
    <p:sldId id="268" r:id="rId9"/>
    <p:sldId id="269" r:id="rId10"/>
    <p:sldId id="270" r:id="rId11"/>
    <p:sldId id="271" r:id="rId12"/>
    <p:sldId id="272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C981-C24F-4CD9-ABC5-66DC5FFCE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187DF-F352-4184-AA35-706299623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4702D-4C1C-40DC-9DE5-8EDF79AB7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70B49-51E4-4C18-82C4-31F869E5A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F6A36-5E78-4718-A45A-1B31A87B8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145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2DBD-DF27-4F09-8A68-3B630BDE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62384-E060-4646-8D30-12D9B516B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0AE81-4C2E-402E-9157-11A66A1CC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8B84D-3D42-46DB-ACA0-95513E462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A087B-50C9-4C53-9B06-C6676C3E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52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5765-9581-4AFF-B3E6-93813965B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FBA6E-5C03-4EFD-A2B9-278668E80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2BEEE-94B7-414C-8EDE-11BAE5E55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2DD05-F4CA-4A0E-9104-EC7EB6653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9E590-A118-48E1-A8B0-85A2D9F16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911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CE225-9AA9-48EC-95DC-6A20EC58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EFF93-253A-4C7D-BC03-6B4D0CCF1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4D9EB-CD3A-49C4-8448-1EE22B826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FF7C1-C21F-4650-8D6A-2C27F330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B7D2A-DA73-4F04-92F9-9014B23B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180DA-E6DA-435D-A2B2-F876128E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392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D9EA-098E-43B9-A331-450EDB99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A36B1-7684-4704-A6B3-D85319BF2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43B894-8559-4994-B977-DEAD14563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D8F77D-783F-44BB-BC48-84BA7345E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40AD1C-E9E5-42CC-8CA7-289FDED9B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A07E9-FA16-4253-AEB5-155173217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08698A-D535-4901-84F8-0EDA1E08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D48D16-A56F-40AD-B1C9-4DF96F2A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474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6D4F-D2FE-4939-8FF2-AA026057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58457-6794-42AD-BB06-13D7235F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666A4-EEF8-4890-8DAB-616ABD31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252CCC-D34B-48C1-A245-EF434574D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633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CBD070-1601-4E8D-AE22-16AD19C3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0E822F-97DB-4F79-A438-1AF786B8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DD26A-9280-42F2-8E83-BEA4A1BC5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48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E3D0-7059-4C17-A44C-FBFAF23A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33536-82EE-40F9-AFF9-F27B993E6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154F1-FC22-47C1-9D66-125292DA8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25068-A16F-4FF7-94B8-06BC4EF5E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55707-1805-4A4C-9BE8-CEDB31E21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2443F-2D98-474D-AFC0-59BC31EFE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5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0C4DD-E7D8-4400-ACBE-5336A6D8D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F24E55-2AA0-4859-A25E-A7074BB26E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C781D-409A-4EB2-979A-8AFEBCA43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55A13-3BBF-4007-95D2-8FB18326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36BB3-A63D-4B02-96D5-89EA785DE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524D38-D49B-444A-8253-B453F4B4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147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3CBC-DF95-4C40-8DD1-F5EC1D650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21AF0-C886-4CFB-ACB6-D91BAAA5E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8A81-DA34-45FB-AAA4-E88EEC1D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9C55A-5793-48A5-8620-BCBE13BC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ACBC4-D9F4-47A3-B4D4-EAFCAEFD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09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0C8CB7-F0BD-4B48-BFE9-6FE03C618D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DC528-60E7-438A-94E2-9E539BD0DA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A62F0-35DB-452F-ADB9-18296C56D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D9A6EE-6136-46E3-A6EA-1B109F43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E729F-2572-43A6-8CF0-AC456B14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084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614DD-49BD-45AC-A6A6-DBCFC6146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F5F0C-D152-44C1-B75C-AD72706FE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6893E-9264-42D4-8F1C-87984D8068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CB196-16A5-4902-AD69-985689E59518}" type="datetimeFigureOut">
              <a:rPr lang="en-GB" smtClean="0"/>
              <a:t>23/11/2019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BA7AC-876F-491F-9103-9FB9EA5AC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73E63-8D4A-4EBD-A4AA-B71845EE6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3FB05-E7F3-4C0C-879C-4CA7C21132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150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wall, indoor, sitting&#10;&#10;Description automatically generated">
            <a:extLst>
              <a:ext uri="{FF2B5EF4-FFF2-40B4-BE49-F238E27FC236}">
                <a16:creationId xmlns:a16="http://schemas.microsoft.com/office/drawing/2014/main" id="{B4269605-1CCE-43ED-9C10-FEC1B407C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450" y="-744539"/>
            <a:ext cx="12534900" cy="9401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3346D4-E523-4D2F-8FFB-E9F3B9392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1508" y="381000"/>
            <a:ext cx="10068984" cy="6096000"/>
          </a:xfrm>
          <a:solidFill>
            <a:srgbClr val="00B0F0">
              <a:alpha val="65000"/>
            </a:srgbClr>
          </a:solidFill>
        </p:spPr>
        <p:txBody>
          <a:bodyPr anchor="ctr" anchorCtr="0">
            <a:normAutofit/>
          </a:bodyPr>
          <a:lstStyle/>
          <a:p>
            <a:r>
              <a:rPr lang="nl-NL" b="1" dirty="0"/>
              <a:t>Gebruikershandleiding uitstroombakken</a:t>
            </a:r>
            <a:br>
              <a:rPr lang="nl-NL" b="1" dirty="0"/>
            </a:br>
            <a:r>
              <a:rPr lang="nl-NL" b="1" dirty="0"/>
              <a:t>Debietmeters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35ECF4-3B14-404F-B791-68D0E0D12A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IoT </a:t>
            </a:r>
            <a:r>
              <a:rPr lang="en-GB" dirty="0" err="1"/>
              <a:t>Waternet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246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E730-2AA1-43DC-951C-9166DF1BE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Doel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DBB7F-9B22-4656-9957-66F435D59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Doel van deze documentatie is inzicht geven in de werking van debiet meters </a:t>
            </a:r>
            <a:r>
              <a:rPr lang="nl-NL" dirty="0" err="1"/>
              <a:t>IoT</a:t>
            </a:r>
            <a:r>
              <a:rPr lang="nl-NL" dirty="0"/>
              <a:t> oplossing en uitleg hoe de metingen worden verricht.</a:t>
            </a:r>
          </a:p>
        </p:txBody>
      </p:sp>
    </p:spTree>
    <p:extLst>
      <p:ext uri="{BB962C8B-B14F-4D97-AF65-F5344CB8AC3E}">
        <p14:creationId xmlns:p14="http://schemas.microsoft.com/office/powerpoint/2010/main" val="7131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342B4-1F40-45B0-9FC7-B6288C346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Type </a:t>
            </a:r>
            <a:r>
              <a:rPr lang="en-GB" b="1" dirty="0" err="1"/>
              <a:t>opstellingen</a:t>
            </a:r>
            <a:endParaRPr lang="en-GB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5A47E2-BAD6-4E23-8382-80D9D1B908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4991289"/>
              </p:ext>
            </p:extLst>
          </p:nvPr>
        </p:nvGraphicFramePr>
        <p:xfrm>
          <a:off x="973394" y="2526745"/>
          <a:ext cx="9913682" cy="32244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11955">
                  <a:extLst>
                    <a:ext uri="{9D8B030D-6E8A-4147-A177-3AD203B41FA5}">
                      <a16:colId xmlns:a16="http://schemas.microsoft.com/office/drawing/2014/main" val="1141335224"/>
                    </a:ext>
                  </a:extLst>
                </a:gridCol>
                <a:gridCol w="1187850">
                  <a:extLst>
                    <a:ext uri="{9D8B030D-6E8A-4147-A177-3AD203B41FA5}">
                      <a16:colId xmlns:a16="http://schemas.microsoft.com/office/drawing/2014/main" val="3036870202"/>
                    </a:ext>
                  </a:extLst>
                </a:gridCol>
                <a:gridCol w="6313877">
                  <a:extLst>
                    <a:ext uri="{9D8B030D-6E8A-4147-A177-3AD203B41FA5}">
                      <a16:colId xmlns:a16="http://schemas.microsoft.com/office/drawing/2014/main" val="1204654890"/>
                    </a:ext>
                  </a:extLst>
                </a:gridCol>
              </a:tblGrid>
              <a:tr h="378426">
                <a:tc>
                  <a:txBody>
                    <a:bodyPr/>
                    <a:lstStyle/>
                    <a:p>
                      <a:r>
                        <a:rPr lang="en-GB" dirty="0" err="1"/>
                        <a:t>Opstellingen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  <a:p>
                      <a:r>
                        <a:rPr lang="en-GB" dirty="0" err="1"/>
                        <a:t>Opstelling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debietformule</a:t>
                      </a:r>
                      <a:r>
                        <a:rPr lang="en-GB" dirty="0"/>
                        <a:t>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910051"/>
                  </a:ext>
                </a:extLst>
              </a:tr>
              <a:tr h="4735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kern="1200" dirty="0">
                          <a:effectLst/>
                        </a:rPr>
                        <a:t>UB01-UB02-UB03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kern="1200" dirty="0">
                          <a:effectLst/>
                        </a:rPr>
                        <a:t>UB04-UB05-UB06</a:t>
                      </a:r>
                      <a:endParaRPr lang="en-GB" sz="1800" kern="1200" dirty="0">
                        <a:effectLst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800" kern="1200" dirty="0">
                          <a:effectLst/>
                        </a:rPr>
                        <a:t>UB07-UB09-UB10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Q=</a:t>
                      </a:r>
                      <a:r>
                        <a:rPr lang="nl-NL" dirty="0" err="1"/>
                        <a:t>Coef</a:t>
                      </a:r>
                      <a:r>
                        <a:rPr lang="nl-NL" dirty="0"/>
                        <a:t>*</a:t>
                      </a:r>
                      <a:r>
                        <a:rPr lang="nl-NL" dirty="0" err="1"/>
                        <a:t>hs</a:t>
                      </a:r>
                      <a:r>
                        <a:rPr lang="nl-NL" baseline="30000" dirty="0" err="1"/>
                        <a:t>powerCoef</a:t>
                      </a:r>
                      <a:r>
                        <a:rPr lang="nl-NL" dirty="0"/>
                        <a:t> *86400  (m</a:t>
                      </a:r>
                      <a:r>
                        <a:rPr lang="nl-NL" baseline="30000" dirty="0"/>
                        <a:t>3</a:t>
                      </a:r>
                      <a:r>
                        <a:rPr lang="nl-NL" dirty="0"/>
                        <a:t>/dag)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333235"/>
                  </a:ext>
                </a:extLst>
              </a:tr>
              <a:tr h="8349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UB08-</a:t>
                      </a:r>
                      <a:r>
                        <a:rPr lang="nl-NL" sz="1800" kern="1200" dirty="0">
                          <a:effectLst/>
                        </a:rPr>
                        <a:t>UB11-UB12-UB40</a:t>
                      </a:r>
                      <a:endParaRPr lang="en-GB" sz="1800" kern="1200" dirty="0">
                        <a:effectLst/>
                      </a:endParaRPr>
                    </a:p>
                    <a:p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kern="1200" dirty="0">
                          <a:effectLst/>
                        </a:rPr>
                        <a:t>Q = </a:t>
                      </a:r>
                      <a:r>
                        <a:rPr lang="nl-NL" sz="1800" kern="1200" dirty="0" err="1">
                          <a:effectLst/>
                        </a:rPr>
                        <a:t>Coef</a:t>
                      </a:r>
                      <a:r>
                        <a:rPr lang="nl-NL" sz="1800" kern="1200" dirty="0">
                          <a:effectLst/>
                        </a:rPr>
                        <a:t>*a*(19.62*(h1-h2))</a:t>
                      </a:r>
                      <a:r>
                        <a:rPr lang="nl-NL" sz="1800" kern="1200" baseline="30000" dirty="0" err="1">
                          <a:effectLst/>
                        </a:rPr>
                        <a:t>powercoef</a:t>
                      </a:r>
                      <a:r>
                        <a:rPr lang="nl-NL" sz="1800" kern="1200" dirty="0">
                          <a:effectLst/>
                        </a:rPr>
                        <a:t>*86400  (m</a:t>
                      </a:r>
                      <a:r>
                        <a:rPr lang="nl-NL" sz="1800" kern="1200" baseline="30000" dirty="0">
                          <a:effectLst/>
                        </a:rPr>
                        <a:t>3</a:t>
                      </a:r>
                      <a:r>
                        <a:rPr lang="nl-NL" sz="1800" kern="1200" dirty="0">
                          <a:effectLst/>
                        </a:rPr>
                        <a:t>/dag)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358283"/>
                  </a:ext>
                </a:extLst>
              </a:tr>
              <a:tr h="834963">
                <a:tc>
                  <a:txBody>
                    <a:bodyPr/>
                    <a:lstStyle/>
                    <a:p>
                      <a:r>
                        <a:rPr lang="nl-NL" sz="1800" kern="1200" dirty="0">
                          <a:effectLst/>
                        </a:rPr>
                        <a:t>Meetstuw</a:t>
                      </a:r>
                    </a:p>
                    <a:p>
                      <a:r>
                        <a:rPr lang="nl-NL" sz="1800" kern="1200" dirty="0">
                          <a:effectLst/>
                        </a:rPr>
                        <a:t> 03-04-12 </a:t>
                      </a:r>
                      <a:endParaRPr lang="en-GB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kern="1200" dirty="0">
                          <a:effectLst/>
                        </a:rPr>
                        <a:t>Q = </a:t>
                      </a:r>
                      <a:r>
                        <a:rPr lang="nl-NL" sz="1800" kern="1200" dirty="0" err="1">
                          <a:effectLst/>
                        </a:rPr>
                        <a:t>Cdr</a:t>
                      </a:r>
                      <a:r>
                        <a:rPr lang="nl-NL" sz="1800" kern="1200" dirty="0">
                          <a:effectLst/>
                        </a:rPr>
                        <a:t>*2.14*( </a:t>
                      </a:r>
                      <a:r>
                        <a:rPr lang="nl-NL" sz="1800" kern="1200" dirty="0" err="1">
                          <a:effectLst/>
                        </a:rPr>
                        <a:t>hs</a:t>
                      </a:r>
                      <a:r>
                        <a:rPr lang="nl-NL" sz="1800" kern="1200" dirty="0">
                          <a:effectLst/>
                        </a:rPr>
                        <a:t>)</a:t>
                      </a:r>
                      <a:r>
                        <a:rPr lang="nl-NL" sz="1800" kern="1200" baseline="30000" dirty="0" err="1">
                          <a:effectLst/>
                        </a:rPr>
                        <a:t>powercoef</a:t>
                      </a:r>
                      <a:r>
                        <a:rPr lang="nl-NL" sz="1800" kern="1200" dirty="0">
                          <a:effectLst/>
                        </a:rPr>
                        <a:t>*86400 (m</a:t>
                      </a:r>
                      <a:r>
                        <a:rPr lang="nl-NL" sz="1800" kern="1200" baseline="30000" dirty="0">
                          <a:effectLst/>
                        </a:rPr>
                        <a:t>3</a:t>
                      </a:r>
                      <a:r>
                        <a:rPr lang="nl-NL" sz="1800" kern="1200" dirty="0">
                          <a:effectLst/>
                        </a:rPr>
                        <a:t>/dag)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0623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329D5C8-DFE1-4651-B366-7F0682C09D4C}"/>
              </a:ext>
            </a:extLst>
          </p:cNvPr>
          <p:cNvSpPr txBox="1"/>
          <p:nvPr/>
        </p:nvSpPr>
        <p:spPr>
          <a:xfrm>
            <a:off x="885825" y="1924050"/>
            <a:ext cx="826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 </a:t>
            </a:r>
            <a:r>
              <a:rPr lang="en-GB" dirty="0" err="1"/>
              <a:t>oplossing</a:t>
            </a:r>
            <a:r>
              <a:rPr lang="en-GB" dirty="0"/>
              <a:t> </a:t>
            </a:r>
            <a:r>
              <a:rPr lang="en-GB" dirty="0" err="1"/>
              <a:t>kent</a:t>
            </a:r>
            <a:r>
              <a:rPr lang="en-GB" dirty="0"/>
              <a:t> de </a:t>
            </a:r>
            <a:r>
              <a:rPr lang="en-GB" dirty="0" err="1"/>
              <a:t>volgende</a:t>
            </a:r>
            <a:r>
              <a:rPr lang="en-GB" dirty="0"/>
              <a:t> type </a:t>
            </a:r>
            <a:r>
              <a:rPr lang="en-GB" dirty="0" err="1"/>
              <a:t>opstellingen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4418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114476-63E2-4D22-A294-2E2C6301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93" y="161371"/>
            <a:ext cx="11067145" cy="799188"/>
          </a:xfrm>
        </p:spPr>
        <p:txBody>
          <a:bodyPr>
            <a:noAutofit/>
          </a:bodyPr>
          <a:lstStyle/>
          <a:p>
            <a:r>
              <a:rPr lang="nl-NL" sz="3600" b="1" dirty="0">
                <a:solidFill>
                  <a:schemeClr val="dk1"/>
                </a:solidFill>
              </a:rPr>
              <a:t>Type Systeem A</a:t>
            </a:r>
            <a:endParaRPr lang="en-GB" sz="3600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E95041E-F122-4276-82F4-843E6A29329A}"/>
              </a:ext>
            </a:extLst>
          </p:cNvPr>
          <p:cNvSpPr/>
          <p:nvPr/>
        </p:nvSpPr>
        <p:spPr>
          <a:xfrm>
            <a:off x="342900" y="3817872"/>
            <a:ext cx="4484729" cy="289029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861EA0-62C5-434C-B05E-F2DD78F6B720}"/>
              </a:ext>
            </a:extLst>
          </p:cNvPr>
          <p:cNvCxnSpPr>
            <a:cxnSpLocks/>
          </p:cNvCxnSpPr>
          <p:nvPr/>
        </p:nvCxnSpPr>
        <p:spPr>
          <a:xfrm>
            <a:off x="442452" y="3754692"/>
            <a:ext cx="45117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106A08-59C8-44A8-B079-670C3B1AE7F5}"/>
              </a:ext>
            </a:extLst>
          </p:cNvPr>
          <p:cNvCxnSpPr>
            <a:cxnSpLocks/>
          </p:cNvCxnSpPr>
          <p:nvPr/>
        </p:nvCxnSpPr>
        <p:spPr>
          <a:xfrm>
            <a:off x="4954229" y="4782163"/>
            <a:ext cx="63582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35A762-1A16-47BC-A34C-112F51AF1C26}"/>
              </a:ext>
            </a:extLst>
          </p:cNvPr>
          <p:cNvSpPr txBox="1"/>
          <p:nvPr/>
        </p:nvSpPr>
        <p:spPr>
          <a:xfrm>
            <a:off x="7309669" y="1867555"/>
            <a:ext cx="3088558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err="1"/>
              <a:t>hs</a:t>
            </a:r>
            <a:r>
              <a:rPr lang="en-GB" sz="1400" dirty="0"/>
              <a:t> = h3ref- (h1ref – h1sensor)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D064DF-6920-487A-8A93-D99D983654C8}"/>
              </a:ext>
            </a:extLst>
          </p:cNvPr>
          <p:cNvCxnSpPr>
            <a:cxnSpLocks/>
          </p:cNvCxnSpPr>
          <p:nvPr/>
        </p:nvCxnSpPr>
        <p:spPr>
          <a:xfrm>
            <a:off x="342900" y="6657666"/>
            <a:ext cx="1101335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43B401-907F-4C37-9EF4-6AFAAEC360A1}"/>
              </a:ext>
            </a:extLst>
          </p:cNvPr>
          <p:cNvSpPr txBox="1"/>
          <p:nvPr/>
        </p:nvSpPr>
        <p:spPr>
          <a:xfrm>
            <a:off x="879482" y="6275667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Grond</a:t>
            </a:r>
            <a:endParaRPr lang="en-GB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32EC89-95DA-4265-9D4C-056E5E56D9AE}"/>
              </a:ext>
            </a:extLst>
          </p:cNvPr>
          <p:cNvCxnSpPr>
            <a:cxnSpLocks/>
          </p:cNvCxnSpPr>
          <p:nvPr/>
        </p:nvCxnSpPr>
        <p:spPr>
          <a:xfrm>
            <a:off x="4954229" y="4480918"/>
            <a:ext cx="0" cy="220636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BF53026-7A4A-425A-97D5-AA29923BD365}"/>
              </a:ext>
            </a:extLst>
          </p:cNvPr>
          <p:cNvSpPr txBox="1"/>
          <p:nvPr/>
        </p:nvSpPr>
        <p:spPr>
          <a:xfrm>
            <a:off x="7233184" y="1479940"/>
            <a:ext cx="5004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Coef</a:t>
            </a:r>
            <a:r>
              <a:rPr lang="nl-NL" dirty="0"/>
              <a:t> = 1.7 *b* C</a:t>
            </a:r>
            <a:r>
              <a:rPr lang="nl-NL" baseline="-25000" dirty="0"/>
              <a:t>e </a:t>
            </a:r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2A13E6DE-7A43-4876-9442-8E8E167A22BB}"/>
              </a:ext>
            </a:extLst>
          </p:cNvPr>
          <p:cNvSpPr/>
          <p:nvPr/>
        </p:nvSpPr>
        <p:spPr>
          <a:xfrm>
            <a:off x="1695243" y="1698382"/>
            <a:ext cx="904568" cy="602985"/>
          </a:xfrm>
          <a:prstGeom prst="trapezoi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Sensor</a:t>
            </a:r>
          </a:p>
          <a:p>
            <a:pPr algn="ctr"/>
            <a:r>
              <a:rPr lang="en-GB" sz="1100" dirty="0"/>
              <a:t>H1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C6F0A3-30F5-4EA3-ABD3-9A59FECFCDA5}"/>
              </a:ext>
            </a:extLst>
          </p:cNvPr>
          <p:cNvCxnSpPr>
            <a:cxnSpLocks/>
          </p:cNvCxnSpPr>
          <p:nvPr/>
        </p:nvCxnSpPr>
        <p:spPr>
          <a:xfrm flipH="1">
            <a:off x="2163091" y="2302596"/>
            <a:ext cx="1" cy="14520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74155F-3DB3-49B3-AC5B-08E105BEFBB8}"/>
              </a:ext>
            </a:extLst>
          </p:cNvPr>
          <p:cNvCxnSpPr>
            <a:cxnSpLocks/>
          </p:cNvCxnSpPr>
          <p:nvPr/>
        </p:nvCxnSpPr>
        <p:spPr>
          <a:xfrm flipH="1">
            <a:off x="629265" y="2302596"/>
            <a:ext cx="5098435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77E690E-E9B7-4468-9CD4-BA6518A197FB}"/>
              </a:ext>
            </a:extLst>
          </p:cNvPr>
          <p:cNvSpPr txBox="1"/>
          <p:nvPr/>
        </p:nvSpPr>
        <p:spPr>
          <a:xfrm>
            <a:off x="736190" y="2646693"/>
            <a:ext cx="15350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h1sensor (m) </a:t>
            </a:r>
          </a:p>
          <a:p>
            <a:r>
              <a:rPr lang="en-GB" sz="1400" dirty="0" err="1"/>
              <a:t>Afstand</a:t>
            </a:r>
            <a:r>
              <a:rPr lang="en-GB" sz="1400" dirty="0"/>
              <a:t> </a:t>
            </a:r>
            <a:r>
              <a:rPr lang="en-GB" sz="1400" dirty="0" err="1"/>
              <a:t>gemeten</a:t>
            </a:r>
            <a:r>
              <a:rPr lang="en-GB" sz="1400" dirty="0"/>
              <a:t> via sensor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032422-5956-42E6-85DF-F3A3A8D78BA9}"/>
              </a:ext>
            </a:extLst>
          </p:cNvPr>
          <p:cNvSpPr/>
          <p:nvPr/>
        </p:nvSpPr>
        <p:spPr>
          <a:xfrm>
            <a:off x="4527984" y="4480918"/>
            <a:ext cx="436879" cy="21894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2F970E-3305-49FE-B98B-66266AE78662}"/>
              </a:ext>
            </a:extLst>
          </p:cNvPr>
          <p:cNvSpPr txBox="1"/>
          <p:nvPr/>
        </p:nvSpPr>
        <p:spPr>
          <a:xfrm>
            <a:off x="4801829" y="2537329"/>
            <a:ext cx="1535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h1ref = max </a:t>
            </a:r>
            <a:r>
              <a:rPr lang="en-GB" sz="1400" dirty="0" err="1"/>
              <a:t>afstand</a:t>
            </a:r>
            <a:r>
              <a:rPr lang="en-GB" sz="1400" dirty="0"/>
              <a:t> tot </a:t>
            </a:r>
            <a:r>
              <a:rPr lang="en-GB" sz="1400" dirty="0" err="1"/>
              <a:t>balken</a:t>
            </a:r>
            <a:endParaRPr lang="en-GB" sz="14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761B2B-CB60-4FA4-983C-023E8C736EB3}"/>
              </a:ext>
            </a:extLst>
          </p:cNvPr>
          <p:cNvSpPr/>
          <p:nvPr/>
        </p:nvSpPr>
        <p:spPr>
          <a:xfrm>
            <a:off x="7233184" y="1187185"/>
            <a:ext cx="32415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b="1" dirty="0"/>
              <a:t>Q = </a:t>
            </a:r>
            <a:r>
              <a:rPr lang="nl-NL" b="1" dirty="0" err="1"/>
              <a:t>Coef</a:t>
            </a:r>
            <a:r>
              <a:rPr lang="nl-NL" b="1" dirty="0"/>
              <a:t>*hs</a:t>
            </a:r>
            <a:r>
              <a:rPr lang="nl-NL" b="1" baseline="30000" dirty="0"/>
              <a:t>1.5</a:t>
            </a:r>
            <a:r>
              <a:rPr lang="nl-NL" b="1" dirty="0"/>
              <a:t> *86400  (m</a:t>
            </a:r>
            <a:r>
              <a:rPr lang="nl-NL" b="1" baseline="30000" dirty="0"/>
              <a:t>3</a:t>
            </a:r>
            <a:r>
              <a:rPr lang="nl-NL" b="1" dirty="0"/>
              <a:t>/dag)</a:t>
            </a:r>
            <a:endParaRPr lang="en-GB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14A71C4-8692-4D7E-B2DD-7F3156565CAE}"/>
              </a:ext>
            </a:extLst>
          </p:cNvPr>
          <p:cNvSpPr/>
          <p:nvPr/>
        </p:nvSpPr>
        <p:spPr>
          <a:xfrm>
            <a:off x="4962546" y="4828660"/>
            <a:ext cx="6349967" cy="182900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AC58324-F88A-491A-BB86-3C23D175AC36}"/>
              </a:ext>
            </a:extLst>
          </p:cNvPr>
          <p:cNvCxnSpPr>
            <a:cxnSpLocks/>
          </p:cNvCxnSpPr>
          <p:nvPr/>
        </p:nvCxnSpPr>
        <p:spPr>
          <a:xfrm>
            <a:off x="4641647" y="2301367"/>
            <a:ext cx="0" cy="21668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21BBC15-3956-44B0-A9C2-AD307D139D5F}"/>
              </a:ext>
            </a:extLst>
          </p:cNvPr>
          <p:cNvSpPr txBox="1"/>
          <p:nvPr/>
        </p:nvSpPr>
        <p:spPr>
          <a:xfrm>
            <a:off x="4943596" y="4827301"/>
            <a:ext cx="2655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vaste</a:t>
            </a:r>
            <a:r>
              <a:rPr lang="en-GB" sz="1400" dirty="0"/>
              <a:t> balk of </a:t>
            </a:r>
            <a:r>
              <a:rPr lang="en-GB" sz="1400" dirty="0" err="1"/>
              <a:t>mes</a:t>
            </a:r>
            <a:r>
              <a:rPr lang="en-GB" sz="1400" dirty="0"/>
              <a:t> (</a:t>
            </a:r>
            <a:r>
              <a:rPr lang="en-GB" sz="1400" dirty="0" err="1"/>
              <a:t>korte</a:t>
            </a:r>
            <a:r>
              <a:rPr lang="en-GB" sz="1400" dirty="0"/>
              <a:t> of </a:t>
            </a:r>
            <a:r>
              <a:rPr lang="en-GB" sz="1400" dirty="0" err="1"/>
              <a:t>scherpe</a:t>
            </a:r>
            <a:r>
              <a:rPr lang="en-GB" sz="1400" dirty="0"/>
              <a:t> </a:t>
            </a:r>
            <a:r>
              <a:rPr lang="en-GB" sz="1400" dirty="0" err="1"/>
              <a:t>overlaat</a:t>
            </a:r>
            <a:endParaRPr lang="en-GB" sz="14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E9D257-E105-4AF6-A615-0642A9D9DC60}"/>
              </a:ext>
            </a:extLst>
          </p:cNvPr>
          <p:cNvCxnSpPr>
            <a:cxnSpLocks/>
          </p:cNvCxnSpPr>
          <p:nvPr/>
        </p:nvCxnSpPr>
        <p:spPr>
          <a:xfrm>
            <a:off x="4794047" y="3754690"/>
            <a:ext cx="0" cy="6972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6C17916-7B9D-485A-9FFF-77AB44FA7675}"/>
              </a:ext>
            </a:extLst>
          </p:cNvPr>
          <p:cNvSpPr txBox="1"/>
          <p:nvPr/>
        </p:nvSpPr>
        <p:spPr>
          <a:xfrm>
            <a:off x="4827629" y="3917311"/>
            <a:ext cx="436880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hs</a:t>
            </a:r>
            <a:endParaRPr lang="en-GB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632EB5B-4E4B-4E37-84B3-41631B2CDC48}"/>
              </a:ext>
            </a:extLst>
          </p:cNvPr>
          <p:cNvSpPr txBox="1"/>
          <p:nvPr/>
        </p:nvSpPr>
        <p:spPr>
          <a:xfrm>
            <a:off x="599768" y="1948322"/>
            <a:ext cx="1807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h1ref (</a:t>
            </a:r>
            <a:r>
              <a:rPr lang="en-GB" sz="1400" dirty="0" err="1">
                <a:solidFill>
                  <a:srgbClr val="00B050"/>
                </a:solidFill>
              </a:rPr>
              <a:t>mNAP</a:t>
            </a:r>
            <a:r>
              <a:rPr lang="en-GB" sz="1400" dirty="0">
                <a:solidFill>
                  <a:srgbClr val="00B050"/>
                </a:solidFill>
              </a:rPr>
              <a:t>)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FB3C25-9D30-4993-B998-522B0851613D}"/>
              </a:ext>
            </a:extLst>
          </p:cNvPr>
          <p:cNvSpPr txBox="1"/>
          <p:nvPr/>
        </p:nvSpPr>
        <p:spPr>
          <a:xfrm>
            <a:off x="475761" y="3890298"/>
            <a:ext cx="2920906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h1 = </a:t>
            </a:r>
            <a:r>
              <a:rPr lang="nl-NL" sz="1400" dirty="0"/>
              <a:t>bovenstrooms waterpeil (</a:t>
            </a:r>
            <a:r>
              <a:rPr lang="nl-NL" sz="1400" dirty="0" err="1"/>
              <a:t>mNAP</a:t>
            </a:r>
            <a:r>
              <a:rPr lang="nl-NL" sz="1400" dirty="0"/>
              <a:t>)</a:t>
            </a:r>
          </a:p>
          <a:p>
            <a:r>
              <a:rPr lang="nl-NL" sz="1400" dirty="0"/>
              <a:t>h1 = h1ref – h1sensor	</a:t>
            </a:r>
            <a:endParaRPr lang="en-GB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1C8227-A5AD-4258-A8A6-3D9373A0E248}"/>
              </a:ext>
            </a:extLst>
          </p:cNvPr>
          <p:cNvSpPr txBox="1"/>
          <p:nvPr/>
        </p:nvSpPr>
        <p:spPr>
          <a:xfrm>
            <a:off x="5527352" y="4259629"/>
            <a:ext cx="1807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h3ref (</a:t>
            </a:r>
            <a:r>
              <a:rPr lang="en-GB" sz="1400" dirty="0" err="1">
                <a:solidFill>
                  <a:srgbClr val="00B050"/>
                </a:solidFill>
              </a:rPr>
              <a:t>mNAP</a:t>
            </a:r>
            <a:r>
              <a:rPr lang="en-GB" sz="1400" dirty="0">
                <a:solidFill>
                  <a:srgbClr val="00B050"/>
                </a:solidFill>
              </a:rPr>
              <a:t>)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FE8C502-EF59-47B0-BAB7-C3FFF1C65D49}"/>
              </a:ext>
            </a:extLst>
          </p:cNvPr>
          <p:cNvCxnSpPr>
            <a:cxnSpLocks/>
          </p:cNvCxnSpPr>
          <p:nvPr/>
        </p:nvCxnSpPr>
        <p:spPr>
          <a:xfrm flipH="1">
            <a:off x="4964779" y="4480918"/>
            <a:ext cx="2055146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A876BCD-6EFA-4EC5-8F66-9E973DB14C16}"/>
              </a:ext>
            </a:extLst>
          </p:cNvPr>
          <p:cNvSpPr txBox="1"/>
          <p:nvPr/>
        </p:nvSpPr>
        <p:spPr>
          <a:xfrm>
            <a:off x="7309669" y="3309672"/>
            <a:ext cx="265552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err="1"/>
              <a:t>Systeem</a:t>
            </a:r>
            <a:r>
              <a:rPr lang="en-GB" sz="1400" dirty="0"/>
              <a:t> </a:t>
            </a:r>
            <a:r>
              <a:rPr lang="en-GB" sz="1400" dirty="0" err="1"/>
              <a:t>configuratie</a:t>
            </a:r>
            <a:r>
              <a:rPr lang="en-GB" sz="1400" dirty="0"/>
              <a:t>:</a:t>
            </a:r>
          </a:p>
          <a:p>
            <a:r>
              <a:rPr lang="en-GB" sz="1400" dirty="0" err="1"/>
              <a:t>Gebruikt</a:t>
            </a:r>
            <a:r>
              <a:rPr lang="en-GB" sz="1400" dirty="0"/>
              <a:t> Sensors : h1</a:t>
            </a:r>
          </a:p>
          <a:p>
            <a:r>
              <a:rPr lang="en-GB" sz="1400" dirty="0" err="1"/>
              <a:t>Configuratie</a:t>
            </a:r>
            <a:r>
              <a:rPr lang="en-GB" sz="1400" dirty="0"/>
              <a:t>: h1ref, h3ref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B6C03D-0106-4616-875B-94681DF9E6C4}"/>
              </a:ext>
            </a:extLst>
          </p:cNvPr>
          <p:cNvSpPr txBox="1"/>
          <p:nvPr/>
        </p:nvSpPr>
        <p:spPr>
          <a:xfrm>
            <a:off x="7335259" y="2448522"/>
            <a:ext cx="3088558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dirty="0"/>
              <a:t>h3 = kruinhoogte</a:t>
            </a:r>
          </a:p>
          <a:p>
            <a:r>
              <a:rPr lang="nl-NL" sz="1400" dirty="0"/>
              <a:t>h3 = h3ref</a:t>
            </a:r>
            <a:endParaRPr lang="en-GB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B0E8E6-744E-4A49-A9AF-CD2B6B02EF10}"/>
              </a:ext>
            </a:extLst>
          </p:cNvPr>
          <p:cNvSpPr txBox="1"/>
          <p:nvPr/>
        </p:nvSpPr>
        <p:spPr>
          <a:xfrm>
            <a:off x="7276367" y="4151565"/>
            <a:ext cx="265552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UITZONDERING</a:t>
            </a:r>
          </a:p>
          <a:p>
            <a:r>
              <a:rPr lang="en-GB" sz="1400" dirty="0"/>
              <a:t>ALS h1&lt;h3 Q=0</a:t>
            </a:r>
          </a:p>
        </p:txBody>
      </p:sp>
    </p:spTree>
    <p:extLst>
      <p:ext uri="{BB962C8B-B14F-4D97-AF65-F5344CB8AC3E}">
        <p14:creationId xmlns:p14="http://schemas.microsoft.com/office/powerpoint/2010/main" val="2669027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0E95041E-F122-4276-82F4-843E6A29329A}"/>
              </a:ext>
            </a:extLst>
          </p:cNvPr>
          <p:cNvSpPr/>
          <p:nvPr/>
        </p:nvSpPr>
        <p:spPr>
          <a:xfrm>
            <a:off x="300695" y="3785584"/>
            <a:ext cx="4484729" cy="289029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96B12D-9F7A-49BD-BFF3-8B06C5879C9E}"/>
              </a:ext>
            </a:extLst>
          </p:cNvPr>
          <p:cNvGrpSpPr/>
          <p:nvPr/>
        </p:nvGrpSpPr>
        <p:grpSpPr>
          <a:xfrm>
            <a:off x="4592300" y="4023842"/>
            <a:ext cx="734788" cy="2652040"/>
            <a:chOff x="-597282" y="2925949"/>
            <a:chExt cx="734788" cy="265204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1DFDB6D-C625-45F8-997F-7ED8C5501724}"/>
                </a:ext>
              </a:extLst>
            </p:cNvPr>
            <p:cNvSpPr/>
            <p:nvPr/>
          </p:nvSpPr>
          <p:spPr>
            <a:xfrm>
              <a:off x="-597282" y="4116411"/>
              <a:ext cx="323216" cy="146157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5269042-DF88-4364-82D3-1523E638E888}"/>
                </a:ext>
              </a:extLst>
            </p:cNvPr>
            <p:cNvGrpSpPr/>
            <p:nvPr/>
          </p:nvGrpSpPr>
          <p:grpSpPr>
            <a:xfrm>
              <a:off x="-520002" y="2925949"/>
              <a:ext cx="657508" cy="2452706"/>
              <a:chOff x="-520002" y="2925949"/>
              <a:chExt cx="657508" cy="2452706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1B9DD787-D5BE-4CCD-A460-B16BB18160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28758" y="3064493"/>
                <a:ext cx="0" cy="2314162"/>
              </a:xfrm>
              <a:prstGeom prst="line">
                <a:avLst/>
              </a:prstGeom>
              <a:ln w="76200"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93241F8F-5CB3-409E-9693-01C2945FAC9D}"/>
                  </a:ext>
                </a:extLst>
              </p:cNvPr>
              <p:cNvSpPr/>
              <p:nvPr/>
            </p:nvSpPr>
            <p:spPr>
              <a:xfrm>
                <a:off x="-520002" y="2925949"/>
                <a:ext cx="657508" cy="14728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28114476-63E2-4D22-A294-2E2C6301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93" y="161371"/>
            <a:ext cx="11067145" cy="799188"/>
          </a:xfrm>
        </p:spPr>
        <p:txBody>
          <a:bodyPr>
            <a:noAutofit/>
          </a:bodyPr>
          <a:lstStyle/>
          <a:p>
            <a:r>
              <a:rPr lang="nl-NL" sz="3600" b="1" dirty="0"/>
              <a:t>Type System B</a:t>
            </a:r>
            <a:endParaRPr lang="en-GB" sz="3600" b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861EA0-62C5-434C-B05E-F2DD78F6B720}"/>
              </a:ext>
            </a:extLst>
          </p:cNvPr>
          <p:cNvCxnSpPr>
            <a:cxnSpLocks/>
          </p:cNvCxnSpPr>
          <p:nvPr/>
        </p:nvCxnSpPr>
        <p:spPr>
          <a:xfrm>
            <a:off x="1728429" y="3754692"/>
            <a:ext cx="3198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106A08-59C8-44A8-B079-670C3B1AE7F5}"/>
              </a:ext>
            </a:extLst>
          </p:cNvPr>
          <p:cNvCxnSpPr>
            <a:cxnSpLocks/>
          </p:cNvCxnSpPr>
          <p:nvPr/>
        </p:nvCxnSpPr>
        <p:spPr>
          <a:xfrm>
            <a:off x="4954229" y="4782163"/>
            <a:ext cx="635828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64E3567-4993-4C29-AFB5-6BD9D6FDC42B}"/>
              </a:ext>
            </a:extLst>
          </p:cNvPr>
          <p:cNvSpPr txBox="1"/>
          <p:nvPr/>
        </p:nvSpPr>
        <p:spPr>
          <a:xfrm>
            <a:off x="534627" y="3754690"/>
            <a:ext cx="2920906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h1 = </a:t>
            </a:r>
            <a:r>
              <a:rPr lang="nl-NL" sz="1400" dirty="0"/>
              <a:t>bovenstrooms waterpeil (</a:t>
            </a:r>
            <a:r>
              <a:rPr lang="nl-NL" sz="1400" dirty="0" err="1"/>
              <a:t>mNAP</a:t>
            </a:r>
            <a:r>
              <a:rPr lang="nl-NL" sz="1400" dirty="0"/>
              <a:t>)</a:t>
            </a:r>
          </a:p>
          <a:p>
            <a:r>
              <a:rPr lang="nl-NL" sz="1400" dirty="0"/>
              <a:t>h1 = h1ref – h1sensor	</a:t>
            </a:r>
            <a:endParaRPr lang="en-GB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D064DF-6920-487A-8A93-D99D983654C8}"/>
              </a:ext>
            </a:extLst>
          </p:cNvPr>
          <p:cNvCxnSpPr/>
          <p:nvPr/>
        </p:nvCxnSpPr>
        <p:spPr>
          <a:xfrm>
            <a:off x="1317523" y="6657666"/>
            <a:ext cx="10038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43B401-907F-4C37-9EF4-6AFAAEC360A1}"/>
              </a:ext>
            </a:extLst>
          </p:cNvPr>
          <p:cNvSpPr txBox="1"/>
          <p:nvPr/>
        </p:nvSpPr>
        <p:spPr>
          <a:xfrm>
            <a:off x="879482" y="6275667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Grond</a:t>
            </a:r>
            <a:endParaRPr lang="en-GB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32EC89-95DA-4265-9D4C-056E5E56D9AE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4962546" y="3429000"/>
            <a:ext cx="0" cy="231416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rapezoid 21">
            <a:extLst>
              <a:ext uri="{FF2B5EF4-FFF2-40B4-BE49-F238E27FC236}">
                <a16:creationId xmlns:a16="http://schemas.microsoft.com/office/drawing/2014/main" id="{2A13E6DE-7A43-4876-9442-8E8E167A22BB}"/>
              </a:ext>
            </a:extLst>
          </p:cNvPr>
          <p:cNvSpPr/>
          <p:nvPr/>
        </p:nvSpPr>
        <p:spPr>
          <a:xfrm>
            <a:off x="1695243" y="1698382"/>
            <a:ext cx="904568" cy="602985"/>
          </a:xfrm>
          <a:prstGeom prst="trapezoi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sensor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C6F0A3-30F5-4EA3-ABD3-9A59FECFCDA5}"/>
              </a:ext>
            </a:extLst>
          </p:cNvPr>
          <p:cNvCxnSpPr>
            <a:cxnSpLocks/>
          </p:cNvCxnSpPr>
          <p:nvPr/>
        </p:nvCxnSpPr>
        <p:spPr>
          <a:xfrm flipH="1">
            <a:off x="2163091" y="2302596"/>
            <a:ext cx="1" cy="14520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F2D06A8-FBFA-439D-B238-5CAEB2EF72BF}"/>
              </a:ext>
            </a:extLst>
          </p:cNvPr>
          <p:cNvSpPr txBox="1"/>
          <p:nvPr/>
        </p:nvSpPr>
        <p:spPr>
          <a:xfrm>
            <a:off x="599768" y="1948322"/>
            <a:ext cx="1807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h1ref (</a:t>
            </a:r>
            <a:r>
              <a:rPr lang="en-GB" sz="1400" dirty="0" err="1">
                <a:solidFill>
                  <a:srgbClr val="00B050"/>
                </a:solidFill>
              </a:rPr>
              <a:t>mNAP</a:t>
            </a:r>
            <a:r>
              <a:rPr lang="en-GB" sz="1400" dirty="0">
                <a:solidFill>
                  <a:srgbClr val="00B050"/>
                </a:solidFill>
              </a:rPr>
              <a:t>)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74155F-3DB3-49B3-AC5B-08E105BEFBB8}"/>
              </a:ext>
            </a:extLst>
          </p:cNvPr>
          <p:cNvCxnSpPr>
            <a:cxnSpLocks/>
          </p:cNvCxnSpPr>
          <p:nvPr/>
        </p:nvCxnSpPr>
        <p:spPr>
          <a:xfrm flipH="1">
            <a:off x="629265" y="2302596"/>
            <a:ext cx="1970546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77E690E-E9B7-4468-9CD4-BA6518A197FB}"/>
              </a:ext>
            </a:extLst>
          </p:cNvPr>
          <p:cNvSpPr txBox="1"/>
          <p:nvPr/>
        </p:nvSpPr>
        <p:spPr>
          <a:xfrm>
            <a:off x="736190" y="2646693"/>
            <a:ext cx="15350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h1sensor (m) </a:t>
            </a:r>
          </a:p>
          <a:p>
            <a:r>
              <a:rPr lang="en-GB" sz="1400" dirty="0" err="1"/>
              <a:t>Afstand</a:t>
            </a:r>
            <a:r>
              <a:rPr lang="en-GB" sz="1400" dirty="0"/>
              <a:t> </a:t>
            </a:r>
            <a:r>
              <a:rPr lang="en-GB" sz="1400" dirty="0" err="1"/>
              <a:t>gemeten</a:t>
            </a:r>
            <a:r>
              <a:rPr lang="en-GB" sz="1400" dirty="0"/>
              <a:t> via sensor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032422-5956-42E6-85DF-F3A3A8D78BA9}"/>
              </a:ext>
            </a:extLst>
          </p:cNvPr>
          <p:cNvSpPr/>
          <p:nvPr/>
        </p:nvSpPr>
        <p:spPr>
          <a:xfrm>
            <a:off x="4594022" y="4480918"/>
            <a:ext cx="323216" cy="14615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1E59028B-CCC3-4E1B-B7FE-226DF4849D65}"/>
              </a:ext>
            </a:extLst>
          </p:cNvPr>
          <p:cNvSpPr/>
          <p:nvPr/>
        </p:nvSpPr>
        <p:spPr>
          <a:xfrm>
            <a:off x="4303244" y="1627267"/>
            <a:ext cx="904568" cy="602985"/>
          </a:xfrm>
          <a:prstGeom prst="trapezoi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sensor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4CB1DC6-C66B-4D7F-827C-8CFB8A4A6FEB}"/>
              </a:ext>
            </a:extLst>
          </p:cNvPr>
          <p:cNvCxnSpPr>
            <a:cxnSpLocks/>
          </p:cNvCxnSpPr>
          <p:nvPr/>
        </p:nvCxnSpPr>
        <p:spPr>
          <a:xfrm flipH="1">
            <a:off x="2946827" y="5022785"/>
            <a:ext cx="974948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32DCE7-AEF5-4114-80F0-2E2043BEC671}"/>
              </a:ext>
            </a:extLst>
          </p:cNvPr>
          <p:cNvCxnSpPr>
            <a:cxnSpLocks/>
          </p:cNvCxnSpPr>
          <p:nvPr/>
        </p:nvCxnSpPr>
        <p:spPr>
          <a:xfrm>
            <a:off x="4785424" y="2247563"/>
            <a:ext cx="0" cy="10314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4473018-941A-47E8-9067-3E309C1CCABD}"/>
              </a:ext>
            </a:extLst>
          </p:cNvPr>
          <p:cNvSpPr txBox="1"/>
          <p:nvPr/>
        </p:nvSpPr>
        <p:spPr>
          <a:xfrm>
            <a:off x="3148447" y="1937916"/>
            <a:ext cx="1614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h3ref (</a:t>
            </a:r>
            <a:r>
              <a:rPr lang="en-GB" sz="1400" dirty="0" err="1">
                <a:solidFill>
                  <a:srgbClr val="00B050"/>
                </a:solidFill>
              </a:rPr>
              <a:t>mNAP</a:t>
            </a:r>
            <a:r>
              <a:rPr lang="en-GB" sz="1400" dirty="0">
                <a:solidFill>
                  <a:srgbClr val="00B050"/>
                </a:solidFill>
              </a:rPr>
              <a:t>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C808339-5B54-40B2-9DD6-047CC37CEC3F}"/>
              </a:ext>
            </a:extLst>
          </p:cNvPr>
          <p:cNvCxnSpPr>
            <a:cxnSpLocks/>
          </p:cNvCxnSpPr>
          <p:nvPr/>
        </p:nvCxnSpPr>
        <p:spPr>
          <a:xfrm>
            <a:off x="4393858" y="3288762"/>
            <a:ext cx="1888100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72F970E-3305-49FE-B98B-66266AE78662}"/>
              </a:ext>
            </a:extLst>
          </p:cNvPr>
          <p:cNvSpPr txBox="1"/>
          <p:nvPr/>
        </p:nvSpPr>
        <p:spPr>
          <a:xfrm>
            <a:off x="4835378" y="2315990"/>
            <a:ext cx="15350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h3sensor (m) </a:t>
            </a:r>
          </a:p>
          <a:p>
            <a:r>
              <a:rPr lang="en-GB" sz="1400" dirty="0" err="1"/>
              <a:t>afstand</a:t>
            </a:r>
            <a:r>
              <a:rPr lang="en-GB" sz="1400" dirty="0"/>
              <a:t> </a:t>
            </a:r>
            <a:r>
              <a:rPr lang="en-GB" sz="1400" dirty="0" err="1"/>
              <a:t>gemeten</a:t>
            </a:r>
            <a:r>
              <a:rPr lang="en-GB" sz="1400" dirty="0"/>
              <a:t> via sensor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A761B2B-CB60-4FA4-983C-023E8C736EB3}"/>
              </a:ext>
            </a:extLst>
          </p:cNvPr>
          <p:cNvSpPr/>
          <p:nvPr/>
        </p:nvSpPr>
        <p:spPr>
          <a:xfrm>
            <a:off x="6828031" y="1189765"/>
            <a:ext cx="4740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b="1" dirty="0"/>
              <a:t>Q = </a:t>
            </a:r>
            <a:r>
              <a:rPr lang="nl-NL" b="1" dirty="0" err="1"/>
              <a:t>Coef</a:t>
            </a:r>
            <a:r>
              <a:rPr lang="nl-NL" b="1" dirty="0"/>
              <a:t>*a*(19.62*(h1-h2))</a:t>
            </a:r>
            <a:r>
              <a:rPr lang="nl-NL" b="1" baseline="30000" dirty="0"/>
              <a:t>0.5</a:t>
            </a:r>
            <a:r>
              <a:rPr lang="nl-NL" b="1" dirty="0"/>
              <a:t>*86400  (m</a:t>
            </a:r>
            <a:r>
              <a:rPr lang="nl-NL" b="1" baseline="30000" dirty="0"/>
              <a:t>3</a:t>
            </a:r>
            <a:r>
              <a:rPr lang="nl-NL" b="1" dirty="0"/>
              <a:t>/dag) </a:t>
            </a:r>
            <a:endParaRPr lang="en-GB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14A71C4-8692-4D7E-B2DD-7F3156565CAE}"/>
              </a:ext>
            </a:extLst>
          </p:cNvPr>
          <p:cNvSpPr/>
          <p:nvPr/>
        </p:nvSpPr>
        <p:spPr>
          <a:xfrm>
            <a:off x="4962546" y="4828660"/>
            <a:ext cx="6349967" cy="1829003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DD8648C-47E7-4AE4-8493-2C22096DA627}"/>
              </a:ext>
            </a:extLst>
          </p:cNvPr>
          <p:cNvSpPr/>
          <p:nvPr/>
        </p:nvSpPr>
        <p:spPr>
          <a:xfrm>
            <a:off x="4680400" y="3300045"/>
            <a:ext cx="657508" cy="147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3E9BF06-5C20-4848-A449-E6F9F15EDE14}"/>
              </a:ext>
            </a:extLst>
          </p:cNvPr>
          <p:cNvCxnSpPr>
            <a:cxnSpLocks/>
          </p:cNvCxnSpPr>
          <p:nvPr/>
        </p:nvCxnSpPr>
        <p:spPr>
          <a:xfrm flipH="1">
            <a:off x="3095094" y="2228653"/>
            <a:ext cx="1759977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E432634B-9053-4456-AD07-DA7546FD504C}"/>
              </a:ext>
            </a:extLst>
          </p:cNvPr>
          <p:cNvSpPr/>
          <p:nvPr/>
        </p:nvSpPr>
        <p:spPr>
          <a:xfrm>
            <a:off x="5337908" y="3985780"/>
            <a:ext cx="18798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h0ref(</a:t>
            </a:r>
            <a:r>
              <a:rPr lang="en-GB" sz="1400" dirty="0" err="1">
                <a:solidFill>
                  <a:srgbClr val="00B050"/>
                </a:solidFill>
              </a:rPr>
              <a:t>mNAP</a:t>
            </a:r>
            <a:r>
              <a:rPr lang="en-GB" sz="1400" dirty="0">
                <a:solidFill>
                  <a:srgbClr val="00B050"/>
                </a:solidFill>
              </a:rPr>
              <a:t>) = max h3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8B74B46-297E-4886-8C7E-73CFB47E1579}"/>
              </a:ext>
            </a:extLst>
          </p:cNvPr>
          <p:cNvSpPr txBox="1"/>
          <p:nvPr/>
        </p:nvSpPr>
        <p:spPr>
          <a:xfrm>
            <a:off x="4970924" y="5052291"/>
            <a:ext cx="2655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/>
              <a:t>Onderdoorlatende </a:t>
            </a:r>
            <a:endParaRPr lang="nl-NL" sz="1400" dirty="0"/>
          </a:p>
          <a:p>
            <a:r>
              <a:rPr lang="nl-NL" sz="1400" dirty="0"/>
              <a:t>beweegbare schuif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8CC9686-21C9-4471-A0BE-DF08DD2685FA}"/>
              </a:ext>
            </a:extLst>
          </p:cNvPr>
          <p:cNvCxnSpPr>
            <a:cxnSpLocks/>
          </p:cNvCxnSpPr>
          <p:nvPr/>
        </p:nvCxnSpPr>
        <p:spPr>
          <a:xfrm>
            <a:off x="4785424" y="5960444"/>
            <a:ext cx="0" cy="6972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DC4AC29-8F23-4C34-8663-EC2E8490FE7F}"/>
              </a:ext>
            </a:extLst>
          </p:cNvPr>
          <p:cNvSpPr txBox="1"/>
          <p:nvPr/>
        </p:nvSpPr>
        <p:spPr>
          <a:xfrm>
            <a:off x="4954229" y="6120684"/>
            <a:ext cx="436880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97D659B-925A-4330-AE32-241D1A7992CC}"/>
              </a:ext>
            </a:extLst>
          </p:cNvPr>
          <p:cNvSpPr txBox="1"/>
          <p:nvPr/>
        </p:nvSpPr>
        <p:spPr>
          <a:xfrm>
            <a:off x="4373610" y="1237795"/>
            <a:ext cx="1968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/>
              <a:t>Verlengstuklengte (m)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DE5628-0E24-4D3E-BE5E-5E84576430CF}"/>
              </a:ext>
            </a:extLst>
          </p:cNvPr>
          <p:cNvSpPr txBox="1"/>
          <p:nvPr/>
        </p:nvSpPr>
        <p:spPr>
          <a:xfrm>
            <a:off x="7297695" y="4844445"/>
            <a:ext cx="3088558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h2 = </a:t>
            </a:r>
            <a:r>
              <a:rPr lang="en-GB" sz="1400" dirty="0" err="1"/>
              <a:t>benedenwaterpeil</a:t>
            </a:r>
            <a:r>
              <a:rPr lang="en-GB" sz="1400" dirty="0"/>
              <a:t> </a:t>
            </a:r>
            <a:r>
              <a:rPr lang="nl-NL" sz="1400" dirty="0"/>
              <a:t>(</a:t>
            </a:r>
            <a:r>
              <a:rPr lang="nl-NL" sz="1400" dirty="0" err="1"/>
              <a:t>mNAP</a:t>
            </a:r>
            <a:r>
              <a:rPr lang="nl-NL" sz="1400" dirty="0"/>
              <a:t>)</a:t>
            </a:r>
          </a:p>
          <a:p>
            <a:r>
              <a:rPr lang="nl-NL" sz="1400" dirty="0"/>
              <a:t>h2 = h2ref - h2sensor	</a:t>
            </a:r>
            <a:endParaRPr lang="en-GB" sz="1400" dirty="0"/>
          </a:p>
        </p:txBody>
      </p:sp>
      <p:sp>
        <p:nvSpPr>
          <p:cNvPr id="49" name="Trapezoid 48">
            <a:extLst>
              <a:ext uri="{FF2B5EF4-FFF2-40B4-BE49-F238E27FC236}">
                <a16:creationId xmlns:a16="http://schemas.microsoft.com/office/drawing/2014/main" id="{47E2B826-6582-4F6D-8AA4-554BDDC23556}"/>
              </a:ext>
            </a:extLst>
          </p:cNvPr>
          <p:cNvSpPr/>
          <p:nvPr/>
        </p:nvSpPr>
        <p:spPr>
          <a:xfrm>
            <a:off x="7654728" y="2941240"/>
            <a:ext cx="904568" cy="602985"/>
          </a:xfrm>
          <a:prstGeom prst="trapezoi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sensor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04D8AD9-8FAB-46EF-B364-2D0B8F086A39}"/>
              </a:ext>
            </a:extLst>
          </p:cNvPr>
          <p:cNvSpPr txBox="1"/>
          <p:nvPr/>
        </p:nvSpPr>
        <p:spPr>
          <a:xfrm>
            <a:off x="6393741" y="3275734"/>
            <a:ext cx="1807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h2ref (</a:t>
            </a:r>
            <a:r>
              <a:rPr lang="en-GB" sz="1400" dirty="0" err="1">
                <a:solidFill>
                  <a:srgbClr val="00B050"/>
                </a:solidFill>
              </a:rPr>
              <a:t>mNAP</a:t>
            </a:r>
            <a:r>
              <a:rPr lang="en-GB" sz="1400" dirty="0">
                <a:solidFill>
                  <a:srgbClr val="00B050"/>
                </a:solidFill>
              </a:rPr>
              <a:t>) 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9E4687A-C077-45BA-8350-4EE4980D7330}"/>
              </a:ext>
            </a:extLst>
          </p:cNvPr>
          <p:cNvCxnSpPr>
            <a:cxnSpLocks/>
          </p:cNvCxnSpPr>
          <p:nvPr/>
        </p:nvCxnSpPr>
        <p:spPr>
          <a:xfrm flipH="1">
            <a:off x="6393741" y="3544225"/>
            <a:ext cx="20082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90F9D81-9567-4A55-806A-E7439C1967B3}"/>
              </a:ext>
            </a:extLst>
          </p:cNvPr>
          <p:cNvCxnSpPr>
            <a:cxnSpLocks/>
          </p:cNvCxnSpPr>
          <p:nvPr/>
        </p:nvCxnSpPr>
        <p:spPr>
          <a:xfrm>
            <a:off x="7155946" y="3544225"/>
            <a:ext cx="0" cy="12480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54E07718-4936-4CFB-809D-4AA098849A5B}"/>
              </a:ext>
            </a:extLst>
          </p:cNvPr>
          <p:cNvSpPr txBox="1"/>
          <p:nvPr/>
        </p:nvSpPr>
        <p:spPr>
          <a:xfrm>
            <a:off x="7205695" y="4008920"/>
            <a:ext cx="15350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h2sensor (m) </a:t>
            </a:r>
          </a:p>
          <a:p>
            <a:r>
              <a:rPr lang="nl-NL" sz="1400" dirty="0"/>
              <a:t>afstand gemeten via sensor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6C06C5A-9E07-42AE-B4CC-5A85F3E5CA74}"/>
              </a:ext>
            </a:extLst>
          </p:cNvPr>
          <p:cNvSpPr txBox="1"/>
          <p:nvPr/>
        </p:nvSpPr>
        <p:spPr>
          <a:xfrm>
            <a:off x="8963852" y="3264773"/>
            <a:ext cx="292744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err="1"/>
              <a:t>Systeem</a:t>
            </a:r>
            <a:r>
              <a:rPr lang="en-GB" sz="1400" dirty="0"/>
              <a:t> </a:t>
            </a:r>
            <a:r>
              <a:rPr lang="en-GB" sz="1400" dirty="0" err="1"/>
              <a:t>configuratie</a:t>
            </a:r>
            <a:r>
              <a:rPr lang="en-GB" sz="1400" dirty="0"/>
              <a:t>:</a:t>
            </a:r>
          </a:p>
          <a:p>
            <a:r>
              <a:rPr lang="en-GB" sz="1400" dirty="0" err="1"/>
              <a:t>Gebruikt</a:t>
            </a:r>
            <a:r>
              <a:rPr lang="en-GB" sz="1400" dirty="0"/>
              <a:t> Sensors : h1,h2,h3</a:t>
            </a:r>
          </a:p>
          <a:p>
            <a:r>
              <a:rPr lang="en-GB" sz="1400" dirty="0" err="1"/>
              <a:t>Configuratie</a:t>
            </a:r>
            <a:r>
              <a:rPr lang="en-GB" sz="1400" dirty="0"/>
              <a:t>: h0ref,h1ref, h2ref,h3ref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6D6B25A-FBD4-4BDE-B247-09D989C5D576}"/>
              </a:ext>
            </a:extLst>
          </p:cNvPr>
          <p:cNvSpPr txBox="1"/>
          <p:nvPr/>
        </p:nvSpPr>
        <p:spPr>
          <a:xfrm>
            <a:off x="2851864" y="2789362"/>
            <a:ext cx="1807906" cy="7386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dirty="0"/>
              <a:t>h3 = </a:t>
            </a:r>
            <a:r>
              <a:rPr lang="nl-NL" sz="1400" dirty="0" err="1"/>
              <a:t>stuwblaad</a:t>
            </a:r>
            <a:endParaRPr lang="nl-NL" sz="1400" dirty="0"/>
          </a:p>
          <a:p>
            <a:r>
              <a:rPr lang="nl-NL" sz="1400" dirty="0"/>
              <a:t>h3 = h3ref - h3sensor	</a:t>
            </a:r>
            <a:endParaRPr lang="en-GB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EF758C4-F114-42DA-9D27-0B83A9EF3235}"/>
              </a:ext>
            </a:extLst>
          </p:cNvPr>
          <p:cNvSpPr txBox="1"/>
          <p:nvPr/>
        </p:nvSpPr>
        <p:spPr>
          <a:xfrm>
            <a:off x="6857702" y="1644220"/>
            <a:ext cx="3088558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dirty="0"/>
              <a:t>a = h3-h0ref</a:t>
            </a:r>
          </a:p>
          <a:p>
            <a:r>
              <a:rPr lang="nl-NL" sz="1400" dirty="0"/>
              <a:t>h3 = h3ref – h3sensor	</a:t>
            </a:r>
            <a:endParaRPr lang="en-GB" sz="1400" dirty="0"/>
          </a:p>
          <a:p>
            <a:r>
              <a:rPr lang="en-GB" sz="1400" dirty="0"/>
              <a:t>h0ref = max h3(</a:t>
            </a:r>
            <a:r>
              <a:rPr lang="en-GB" sz="1400" dirty="0" err="1"/>
              <a:t>mNAP</a:t>
            </a:r>
            <a:r>
              <a:rPr lang="en-GB" sz="1400" dirty="0"/>
              <a:t>)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F4339AB-6C2F-4567-BD5B-A70B54029F79}"/>
              </a:ext>
            </a:extLst>
          </p:cNvPr>
          <p:cNvCxnSpPr>
            <a:cxnSpLocks/>
          </p:cNvCxnSpPr>
          <p:nvPr/>
        </p:nvCxnSpPr>
        <p:spPr>
          <a:xfrm flipH="1">
            <a:off x="4633764" y="4023842"/>
            <a:ext cx="1759977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7996599-31D8-4CE1-86FF-FE113E3056F2}"/>
              </a:ext>
            </a:extLst>
          </p:cNvPr>
          <p:cNvCxnSpPr>
            <a:cxnSpLocks/>
          </p:cNvCxnSpPr>
          <p:nvPr/>
        </p:nvCxnSpPr>
        <p:spPr>
          <a:xfrm>
            <a:off x="5391109" y="3306218"/>
            <a:ext cx="0" cy="69721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7ED86DC-A612-4E56-B3C1-E75D08580CAC}"/>
              </a:ext>
            </a:extLst>
          </p:cNvPr>
          <p:cNvSpPr txBox="1"/>
          <p:nvPr/>
        </p:nvSpPr>
        <p:spPr>
          <a:xfrm>
            <a:off x="5368560" y="3484576"/>
            <a:ext cx="436880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3755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3786054-D73C-417A-B03A-E8F3DE1EB622}"/>
              </a:ext>
            </a:extLst>
          </p:cNvPr>
          <p:cNvSpPr/>
          <p:nvPr/>
        </p:nvSpPr>
        <p:spPr>
          <a:xfrm>
            <a:off x="4962546" y="3969482"/>
            <a:ext cx="6349967" cy="2424501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E9C64C-5C58-4C98-AEBB-89B131D8E8AE}"/>
              </a:ext>
            </a:extLst>
          </p:cNvPr>
          <p:cNvSpPr/>
          <p:nvPr/>
        </p:nvSpPr>
        <p:spPr>
          <a:xfrm>
            <a:off x="442452" y="3487990"/>
            <a:ext cx="4484729" cy="2890298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114476-63E2-4D22-A294-2E2C6301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293" y="161371"/>
            <a:ext cx="6502295" cy="799188"/>
          </a:xfrm>
        </p:spPr>
        <p:txBody>
          <a:bodyPr>
            <a:normAutofit fontScale="90000"/>
          </a:bodyPr>
          <a:lstStyle/>
          <a:p>
            <a:r>
              <a:rPr lang="nl-NL" b="1" dirty="0">
                <a:solidFill>
                  <a:schemeClr val="dk1"/>
                </a:solidFill>
              </a:rPr>
              <a:t>Type Systeem C</a:t>
            </a:r>
            <a:br>
              <a:rPr lang="en-GB" dirty="0"/>
            </a:br>
            <a:r>
              <a:rPr lang="nl-NL" dirty="0"/>
              <a:t> </a:t>
            </a:r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861EA0-62C5-434C-B05E-F2DD78F6B720}"/>
              </a:ext>
            </a:extLst>
          </p:cNvPr>
          <p:cNvCxnSpPr/>
          <p:nvPr/>
        </p:nvCxnSpPr>
        <p:spPr>
          <a:xfrm>
            <a:off x="1728429" y="3487992"/>
            <a:ext cx="322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106A08-59C8-44A8-B079-670C3B1AE7F5}"/>
              </a:ext>
            </a:extLst>
          </p:cNvPr>
          <p:cNvCxnSpPr>
            <a:cxnSpLocks/>
          </p:cNvCxnSpPr>
          <p:nvPr/>
        </p:nvCxnSpPr>
        <p:spPr>
          <a:xfrm>
            <a:off x="4954229" y="3896338"/>
            <a:ext cx="66408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64E3567-4993-4C29-AFB5-6BD9D6FDC42B}"/>
              </a:ext>
            </a:extLst>
          </p:cNvPr>
          <p:cNvSpPr txBox="1"/>
          <p:nvPr/>
        </p:nvSpPr>
        <p:spPr>
          <a:xfrm>
            <a:off x="534627" y="3487990"/>
            <a:ext cx="2920906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h1 = </a:t>
            </a:r>
            <a:r>
              <a:rPr lang="en-GB" sz="1400" dirty="0" err="1"/>
              <a:t>bovenwaterpeil</a:t>
            </a:r>
            <a:r>
              <a:rPr lang="nl-NL" sz="1400" dirty="0"/>
              <a:t> (</a:t>
            </a:r>
            <a:r>
              <a:rPr lang="nl-NL" sz="1400" dirty="0" err="1"/>
              <a:t>mNAP</a:t>
            </a:r>
            <a:r>
              <a:rPr lang="nl-NL" sz="1400" dirty="0"/>
              <a:t>)</a:t>
            </a:r>
          </a:p>
          <a:p>
            <a:r>
              <a:rPr lang="nl-NL" sz="1400" dirty="0"/>
              <a:t>h1 = h1ref – h1sensor	</a:t>
            </a:r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35A762-1A16-47BC-A34C-112F51AF1C26}"/>
              </a:ext>
            </a:extLst>
          </p:cNvPr>
          <p:cNvSpPr txBox="1"/>
          <p:nvPr/>
        </p:nvSpPr>
        <p:spPr>
          <a:xfrm>
            <a:off x="8342544" y="3908752"/>
            <a:ext cx="3088558" cy="52322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h2 = </a:t>
            </a:r>
            <a:r>
              <a:rPr lang="en-GB" sz="1400" dirty="0" err="1"/>
              <a:t>benedenwaterpeil</a:t>
            </a:r>
            <a:r>
              <a:rPr lang="en-GB" sz="1400" dirty="0"/>
              <a:t> </a:t>
            </a:r>
            <a:r>
              <a:rPr lang="nl-NL" sz="1400" dirty="0"/>
              <a:t>(</a:t>
            </a:r>
            <a:r>
              <a:rPr lang="nl-NL" sz="1400" dirty="0" err="1"/>
              <a:t>mNAP</a:t>
            </a:r>
            <a:r>
              <a:rPr lang="nl-NL" sz="1400" dirty="0"/>
              <a:t>)</a:t>
            </a:r>
          </a:p>
          <a:p>
            <a:r>
              <a:rPr lang="nl-NL" sz="1400" dirty="0"/>
              <a:t>h2 = h2ref - h2sensor	</a:t>
            </a:r>
            <a:endParaRPr lang="en-GB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D064DF-6920-487A-8A93-D99D983654C8}"/>
              </a:ext>
            </a:extLst>
          </p:cNvPr>
          <p:cNvCxnSpPr/>
          <p:nvPr/>
        </p:nvCxnSpPr>
        <p:spPr>
          <a:xfrm>
            <a:off x="1317523" y="6390966"/>
            <a:ext cx="10038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43B401-907F-4C37-9EF4-6AFAAEC360A1}"/>
              </a:ext>
            </a:extLst>
          </p:cNvPr>
          <p:cNvSpPr txBox="1"/>
          <p:nvPr/>
        </p:nvSpPr>
        <p:spPr>
          <a:xfrm>
            <a:off x="879482" y="6008967"/>
            <a:ext cx="2576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Grond</a:t>
            </a:r>
            <a:endParaRPr lang="en-GB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32EC89-95DA-4265-9D4C-056E5E56D9AE}"/>
              </a:ext>
            </a:extLst>
          </p:cNvPr>
          <p:cNvCxnSpPr>
            <a:cxnSpLocks/>
          </p:cNvCxnSpPr>
          <p:nvPr/>
        </p:nvCxnSpPr>
        <p:spPr>
          <a:xfrm>
            <a:off x="4874036" y="4180455"/>
            <a:ext cx="0" cy="194322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BF53026-7A4A-425A-97D5-AA29923BD365}"/>
              </a:ext>
            </a:extLst>
          </p:cNvPr>
          <p:cNvSpPr txBox="1"/>
          <p:nvPr/>
        </p:nvSpPr>
        <p:spPr>
          <a:xfrm>
            <a:off x="7000567" y="381334"/>
            <a:ext cx="506204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Q = </a:t>
            </a:r>
            <a:r>
              <a:rPr lang="nl-NL" b="1" dirty="0" err="1"/>
              <a:t>Coef</a:t>
            </a:r>
            <a:r>
              <a:rPr lang="nl-NL" b="1" dirty="0"/>
              <a:t> * </a:t>
            </a:r>
            <a:r>
              <a:rPr lang="nl-NL" b="1" dirty="0" err="1"/>
              <a:t>Cdr</a:t>
            </a:r>
            <a:r>
              <a:rPr lang="nl-NL" b="1" dirty="0"/>
              <a:t> *(</a:t>
            </a:r>
            <a:r>
              <a:rPr lang="nl-NL" b="1" dirty="0" err="1"/>
              <a:t>h</a:t>
            </a:r>
            <a:r>
              <a:rPr lang="nl-NL" b="1" baseline="-25000" dirty="0" err="1"/>
              <a:t>s</a:t>
            </a:r>
            <a:r>
              <a:rPr lang="nl-NL" b="1" dirty="0"/>
              <a:t>)</a:t>
            </a:r>
            <a:r>
              <a:rPr lang="nl-NL" b="1" baseline="30000" dirty="0"/>
              <a:t>1.549 </a:t>
            </a:r>
            <a:r>
              <a:rPr lang="nl-NL" b="1" dirty="0"/>
              <a:t>*86400</a:t>
            </a:r>
            <a:r>
              <a:rPr lang="nl-NL" b="1" baseline="30000" dirty="0"/>
              <a:t>   </a:t>
            </a:r>
            <a:r>
              <a:rPr lang="nl-NL" b="1" dirty="0"/>
              <a:t>(m</a:t>
            </a:r>
            <a:r>
              <a:rPr lang="nl-NL" b="1" baseline="30000" dirty="0"/>
              <a:t>3</a:t>
            </a:r>
            <a:r>
              <a:rPr lang="nl-NL" b="1" dirty="0"/>
              <a:t>/dag)</a:t>
            </a:r>
            <a:endParaRPr lang="en-GB" dirty="0"/>
          </a:p>
          <a:p>
            <a:r>
              <a:rPr lang="nl-NL" sz="1600" dirty="0" err="1"/>
              <a:t>Coef</a:t>
            </a:r>
            <a:r>
              <a:rPr lang="nl-NL" sz="1600" dirty="0"/>
              <a:t> = (2/3)</a:t>
            </a:r>
            <a:r>
              <a:rPr lang="nl-NL" sz="1600" baseline="30000" dirty="0"/>
              <a:t>1.5</a:t>
            </a:r>
            <a:r>
              <a:rPr lang="nl-NL" sz="1600" dirty="0"/>
              <a:t>*g</a:t>
            </a:r>
            <a:r>
              <a:rPr lang="nl-NL" sz="1600" baseline="30000" dirty="0"/>
              <a:t>0.5</a:t>
            </a:r>
            <a:r>
              <a:rPr lang="nl-NL" sz="1600" dirty="0"/>
              <a:t>*C</a:t>
            </a:r>
            <a:r>
              <a:rPr lang="nl-NL" sz="1600" baseline="-25000" dirty="0"/>
              <a:t>d</a:t>
            </a:r>
            <a:r>
              <a:rPr lang="nl-NL" sz="1600" dirty="0"/>
              <a:t>*C</a:t>
            </a:r>
            <a:r>
              <a:rPr lang="nl-NL" sz="1600" baseline="-25000" dirty="0"/>
              <a:t>v</a:t>
            </a:r>
            <a:r>
              <a:rPr lang="nl-NL" sz="1600" dirty="0"/>
              <a:t>*</a:t>
            </a:r>
            <a:r>
              <a:rPr lang="nl-NL" sz="1600" dirty="0" err="1"/>
              <a:t>C</a:t>
            </a:r>
            <a:r>
              <a:rPr lang="nl-NL" sz="1600" baseline="-25000" dirty="0" err="1"/>
              <a:t>dr</a:t>
            </a:r>
            <a:r>
              <a:rPr lang="nl-NL" sz="1600" dirty="0"/>
              <a:t>*b</a:t>
            </a:r>
            <a:br>
              <a:rPr lang="nl-NL" sz="1600" dirty="0"/>
            </a:br>
            <a:r>
              <a:rPr lang="nl-NL" sz="1600" dirty="0" err="1"/>
              <a:t>Cdr</a:t>
            </a:r>
            <a:r>
              <a:rPr lang="nl-NL" sz="1600" dirty="0"/>
              <a:t> = correctie factor voor verdrinkingsgraad</a:t>
            </a:r>
          </a:p>
          <a:p>
            <a:r>
              <a:rPr lang="nl-NL" sz="1400" b="1" dirty="0" err="1"/>
              <a:t>Cdr</a:t>
            </a:r>
            <a:r>
              <a:rPr lang="nl-NL" sz="1400" dirty="0"/>
              <a:t> =ALS (S&lt;70;1;(ALS(S&gt;99;0;0.688*LOG((100-S)/(100))+1.268)))</a:t>
            </a:r>
          </a:p>
          <a:p>
            <a:r>
              <a:rPr lang="nl-NL" sz="1600" b="1" dirty="0"/>
              <a:t>S = </a:t>
            </a:r>
            <a:r>
              <a:rPr lang="nl-NL" sz="1600" dirty="0"/>
              <a:t>(h</a:t>
            </a:r>
            <a:r>
              <a:rPr lang="nl-NL" sz="1600" baseline="-25000" dirty="0"/>
              <a:t>2</a:t>
            </a:r>
            <a:r>
              <a:rPr lang="nl-NL" sz="1600" dirty="0"/>
              <a:t>-h</a:t>
            </a:r>
            <a:r>
              <a:rPr lang="nl-NL" sz="1600" baseline="-25000" dirty="0"/>
              <a:t>k</a:t>
            </a:r>
            <a:r>
              <a:rPr lang="nl-NL" sz="1600" dirty="0"/>
              <a:t>)/(h</a:t>
            </a:r>
            <a:r>
              <a:rPr lang="nl-NL" sz="1600" baseline="-25000" dirty="0"/>
              <a:t>1</a:t>
            </a:r>
            <a:r>
              <a:rPr lang="nl-NL" sz="1600" dirty="0"/>
              <a:t>-h</a:t>
            </a:r>
            <a:r>
              <a:rPr lang="nl-NL" sz="1600" baseline="-25000" dirty="0"/>
              <a:t>k</a:t>
            </a:r>
            <a:r>
              <a:rPr lang="nl-NL" sz="1600" dirty="0"/>
              <a:t>)*100</a:t>
            </a:r>
            <a:r>
              <a:rPr lang="nl-NL" sz="1600" b="1" dirty="0"/>
              <a:t>  </a:t>
            </a:r>
            <a:endParaRPr lang="en-GB" sz="1400" dirty="0"/>
          </a:p>
          <a:p>
            <a:endParaRPr lang="nl-NL" dirty="0"/>
          </a:p>
        </p:txBody>
      </p:sp>
      <p:sp>
        <p:nvSpPr>
          <p:cNvPr id="22" name="Trapezoid 21">
            <a:extLst>
              <a:ext uri="{FF2B5EF4-FFF2-40B4-BE49-F238E27FC236}">
                <a16:creationId xmlns:a16="http://schemas.microsoft.com/office/drawing/2014/main" id="{2A13E6DE-7A43-4876-9442-8E8E167A22BB}"/>
              </a:ext>
            </a:extLst>
          </p:cNvPr>
          <p:cNvSpPr/>
          <p:nvPr/>
        </p:nvSpPr>
        <p:spPr>
          <a:xfrm>
            <a:off x="1695243" y="1431682"/>
            <a:ext cx="904568" cy="602985"/>
          </a:xfrm>
          <a:prstGeom prst="trapezoi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sensor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0C6F0A3-30F5-4EA3-ABD3-9A59FECFCDA5}"/>
              </a:ext>
            </a:extLst>
          </p:cNvPr>
          <p:cNvCxnSpPr>
            <a:cxnSpLocks/>
          </p:cNvCxnSpPr>
          <p:nvPr/>
        </p:nvCxnSpPr>
        <p:spPr>
          <a:xfrm flipH="1">
            <a:off x="2163091" y="2035896"/>
            <a:ext cx="1" cy="145209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F2D06A8-FBFA-439D-B238-5CAEB2EF72BF}"/>
              </a:ext>
            </a:extLst>
          </p:cNvPr>
          <p:cNvSpPr txBox="1"/>
          <p:nvPr/>
        </p:nvSpPr>
        <p:spPr>
          <a:xfrm>
            <a:off x="599768" y="1681622"/>
            <a:ext cx="1807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h1ref (</a:t>
            </a:r>
            <a:r>
              <a:rPr lang="en-GB" sz="1400" dirty="0" err="1">
                <a:solidFill>
                  <a:srgbClr val="00B050"/>
                </a:solidFill>
              </a:rPr>
              <a:t>mNAP</a:t>
            </a:r>
            <a:r>
              <a:rPr lang="en-GB" sz="1400" dirty="0">
                <a:solidFill>
                  <a:srgbClr val="00B050"/>
                </a:solidFill>
              </a:rPr>
              <a:t>)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7E690E-E9B7-4468-9CD4-BA6518A197FB}"/>
              </a:ext>
            </a:extLst>
          </p:cNvPr>
          <p:cNvSpPr txBox="1"/>
          <p:nvPr/>
        </p:nvSpPr>
        <p:spPr>
          <a:xfrm>
            <a:off x="1400889" y="2371340"/>
            <a:ext cx="15350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h1sensor (m) </a:t>
            </a:r>
          </a:p>
          <a:p>
            <a:r>
              <a:rPr lang="en-GB" sz="1400" dirty="0" err="1"/>
              <a:t>Afstand</a:t>
            </a:r>
            <a:r>
              <a:rPr lang="en-GB" sz="1400" dirty="0"/>
              <a:t> </a:t>
            </a:r>
            <a:r>
              <a:rPr lang="en-GB" sz="1400" dirty="0" err="1"/>
              <a:t>gemeten</a:t>
            </a:r>
            <a:r>
              <a:rPr lang="en-GB" sz="1400" dirty="0"/>
              <a:t> via sensor</a:t>
            </a:r>
          </a:p>
        </p:txBody>
      </p:sp>
      <p:sp>
        <p:nvSpPr>
          <p:cNvPr id="33" name="Trapezoid 32">
            <a:extLst>
              <a:ext uri="{FF2B5EF4-FFF2-40B4-BE49-F238E27FC236}">
                <a16:creationId xmlns:a16="http://schemas.microsoft.com/office/drawing/2014/main" id="{E7809A07-139C-4C85-9E6C-84FC9C911C2F}"/>
              </a:ext>
            </a:extLst>
          </p:cNvPr>
          <p:cNvSpPr/>
          <p:nvPr/>
        </p:nvSpPr>
        <p:spPr>
          <a:xfrm>
            <a:off x="7590503" y="2062421"/>
            <a:ext cx="904568" cy="602985"/>
          </a:xfrm>
          <a:prstGeom prst="trapezoi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sensor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55710-2984-4912-80DB-09A0EE9E1CFB}"/>
              </a:ext>
            </a:extLst>
          </p:cNvPr>
          <p:cNvSpPr txBox="1"/>
          <p:nvPr/>
        </p:nvSpPr>
        <p:spPr>
          <a:xfrm>
            <a:off x="5633884" y="2311132"/>
            <a:ext cx="1807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h2ref (</a:t>
            </a:r>
            <a:r>
              <a:rPr lang="en-GB" sz="1400" dirty="0" err="1">
                <a:solidFill>
                  <a:srgbClr val="00B050"/>
                </a:solidFill>
              </a:rPr>
              <a:t>mNAP</a:t>
            </a:r>
            <a:r>
              <a:rPr lang="en-GB" sz="1400" dirty="0">
                <a:solidFill>
                  <a:srgbClr val="00B050"/>
                </a:solidFill>
              </a:rPr>
              <a:t>) 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C8373D6-C6EA-4248-892A-F8EFBA347BD9}"/>
              </a:ext>
            </a:extLst>
          </p:cNvPr>
          <p:cNvCxnSpPr>
            <a:cxnSpLocks/>
          </p:cNvCxnSpPr>
          <p:nvPr/>
        </p:nvCxnSpPr>
        <p:spPr>
          <a:xfrm>
            <a:off x="7091721" y="2665406"/>
            <a:ext cx="0" cy="12480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542B63C-2A3D-40F5-9B59-289402B608DB}"/>
              </a:ext>
            </a:extLst>
          </p:cNvPr>
          <p:cNvSpPr txBox="1"/>
          <p:nvPr/>
        </p:nvSpPr>
        <p:spPr>
          <a:xfrm>
            <a:off x="7141470" y="3130101"/>
            <a:ext cx="15350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dirty="0"/>
              <a:t>h2sensor (m) </a:t>
            </a:r>
          </a:p>
          <a:p>
            <a:r>
              <a:rPr lang="nl-NL" sz="1400" dirty="0"/>
              <a:t>afstand gemeten via sensor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8032422-5956-42E6-85DF-F3A3A8D78BA9}"/>
              </a:ext>
            </a:extLst>
          </p:cNvPr>
          <p:cNvSpPr/>
          <p:nvPr/>
        </p:nvSpPr>
        <p:spPr>
          <a:xfrm>
            <a:off x="4622696" y="4932410"/>
            <a:ext cx="204495" cy="146157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1E59028B-CCC3-4E1B-B7FE-226DF4849D65}"/>
              </a:ext>
            </a:extLst>
          </p:cNvPr>
          <p:cNvSpPr/>
          <p:nvPr/>
        </p:nvSpPr>
        <p:spPr>
          <a:xfrm>
            <a:off x="4411798" y="810749"/>
            <a:ext cx="904568" cy="602985"/>
          </a:xfrm>
          <a:prstGeom prst="trapezoid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dirty="0"/>
              <a:t>sensor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4CB1DC6-C66B-4D7F-827C-8CFB8A4A6FEB}"/>
              </a:ext>
            </a:extLst>
          </p:cNvPr>
          <p:cNvCxnSpPr>
            <a:cxnSpLocks/>
          </p:cNvCxnSpPr>
          <p:nvPr/>
        </p:nvCxnSpPr>
        <p:spPr>
          <a:xfrm flipH="1">
            <a:off x="3575440" y="1413734"/>
            <a:ext cx="17599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32DCE7-AEF5-4114-80F0-2E2043BEC671}"/>
              </a:ext>
            </a:extLst>
          </p:cNvPr>
          <p:cNvCxnSpPr>
            <a:cxnSpLocks/>
            <a:stCxn id="40" idx="2"/>
            <a:endCxn id="38" idx="3"/>
          </p:cNvCxnSpPr>
          <p:nvPr/>
        </p:nvCxnSpPr>
        <p:spPr>
          <a:xfrm>
            <a:off x="4864082" y="1413734"/>
            <a:ext cx="13350" cy="14748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C808339-5B54-40B2-9DD6-047CC37CEC3F}"/>
              </a:ext>
            </a:extLst>
          </p:cNvPr>
          <p:cNvCxnSpPr>
            <a:cxnSpLocks/>
          </p:cNvCxnSpPr>
          <p:nvPr/>
        </p:nvCxnSpPr>
        <p:spPr>
          <a:xfrm>
            <a:off x="3077497" y="4932410"/>
            <a:ext cx="1888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72F970E-3305-49FE-B98B-66266AE78662}"/>
              </a:ext>
            </a:extLst>
          </p:cNvPr>
          <p:cNvSpPr txBox="1"/>
          <p:nvPr/>
        </p:nvSpPr>
        <p:spPr>
          <a:xfrm>
            <a:off x="4813599" y="1498561"/>
            <a:ext cx="15350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h3sensor (m) </a:t>
            </a:r>
          </a:p>
          <a:p>
            <a:r>
              <a:rPr lang="en-GB" sz="1400" dirty="0" err="1"/>
              <a:t>afstand</a:t>
            </a:r>
            <a:r>
              <a:rPr lang="en-GB" sz="1400" dirty="0"/>
              <a:t> </a:t>
            </a:r>
            <a:r>
              <a:rPr lang="en-GB" sz="1400" dirty="0" err="1"/>
              <a:t>gemeten</a:t>
            </a:r>
            <a:r>
              <a:rPr lang="en-GB" sz="1400" dirty="0"/>
              <a:t> via sensor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488DA2-ECCF-4FD1-97FD-A5FFE22F54EF}"/>
              </a:ext>
            </a:extLst>
          </p:cNvPr>
          <p:cNvSpPr/>
          <p:nvPr/>
        </p:nvSpPr>
        <p:spPr>
          <a:xfrm>
            <a:off x="4219924" y="2814928"/>
            <a:ext cx="657508" cy="1472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F0135C7-78BA-4F88-AB0C-0BDDF793FD46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4865569" y="2888571"/>
            <a:ext cx="11863" cy="1249936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29C6837-0DDE-424A-B8A9-D1D874B40DC1}"/>
              </a:ext>
            </a:extLst>
          </p:cNvPr>
          <p:cNvSpPr txBox="1"/>
          <p:nvPr/>
        </p:nvSpPr>
        <p:spPr>
          <a:xfrm>
            <a:off x="4942748" y="3605691"/>
            <a:ext cx="17010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Verlengstuk</a:t>
            </a:r>
            <a:r>
              <a:rPr lang="en-GB" sz="1400" dirty="0"/>
              <a:t> (m)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0AC1F55-6205-46EC-8C2A-62885FCFA498}"/>
              </a:ext>
            </a:extLst>
          </p:cNvPr>
          <p:cNvCxnSpPr>
            <a:cxnSpLocks/>
          </p:cNvCxnSpPr>
          <p:nvPr/>
        </p:nvCxnSpPr>
        <p:spPr>
          <a:xfrm>
            <a:off x="3860389" y="4160824"/>
            <a:ext cx="180299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8155F22-9FF6-4B89-8FD5-F2C6C76240F9}"/>
              </a:ext>
            </a:extLst>
          </p:cNvPr>
          <p:cNvCxnSpPr>
            <a:cxnSpLocks/>
          </p:cNvCxnSpPr>
          <p:nvPr/>
        </p:nvCxnSpPr>
        <p:spPr>
          <a:xfrm>
            <a:off x="5633884" y="4157843"/>
            <a:ext cx="0" cy="398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C922655B-E680-4E22-85FA-411B1383B7C1}"/>
              </a:ext>
            </a:extLst>
          </p:cNvPr>
          <p:cNvSpPr/>
          <p:nvPr/>
        </p:nvSpPr>
        <p:spPr>
          <a:xfrm rot="16200000">
            <a:off x="3544058" y="4165906"/>
            <a:ext cx="658690" cy="642565"/>
          </a:xfrm>
          <a:prstGeom prst="arc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F21EB3-11F9-43F7-BCFB-868F0A2CE54C}"/>
              </a:ext>
            </a:extLst>
          </p:cNvPr>
          <p:cNvCxnSpPr>
            <a:cxnSpLocks/>
          </p:cNvCxnSpPr>
          <p:nvPr/>
        </p:nvCxnSpPr>
        <p:spPr>
          <a:xfrm flipH="1">
            <a:off x="3552120" y="2611286"/>
            <a:ext cx="1261480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4829094-841E-4D1D-8A77-16F52717CF97}"/>
              </a:ext>
            </a:extLst>
          </p:cNvPr>
          <p:cNvSpPr txBox="1"/>
          <p:nvPr/>
        </p:nvSpPr>
        <p:spPr>
          <a:xfrm>
            <a:off x="3164127" y="1759584"/>
            <a:ext cx="17863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B050"/>
                </a:solidFill>
              </a:rPr>
              <a:t>h3ref (</a:t>
            </a:r>
            <a:r>
              <a:rPr lang="en-GB" sz="1400" dirty="0" err="1">
                <a:solidFill>
                  <a:srgbClr val="00B050"/>
                </a:solidFill>
              </a:rPr>
              <a:t>mNAP</a:t>
            </a:r>
            <a:r>
              <a:rPr lang="en-GB" sz="1400" dirty="0">
                <a:solidFill>
                  <a:srgbClr val="00B050"/>
                </a:solidFill>
              </a:rPr>
              <a:t>) = h3refA-Verlenstuk </a:t>
            </a:r>
            <a:r>
              <a:rPr lang="en-GB" sz="1400" dirty="0" err="1">
                <a:solidFill>
                  <a:srgbClr val="00B050"/>
                </a:solidFill>
              </a:rPr>
              <a:t>lengte</a:t>
            </a:r>
            <a:endParaRPr lang="en-GB" sz="1400" dirty="0">
              <a:solidFill>
                <a:srgbClr val="00B050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5F526BC-9216-4F99-B9E0-2BD1D3BD3C37}"/>
              </a:ext>
            </a:extLst>
          </p:cNvPr>
          <p:cNvCxnSpPr/>
          <p:nvPr/>
        </p:nvCxnSpPr>
        <p:spPr>
          <a:xfrm flipV="1">
            <a:off x="3832942" y="1367679"/>
            <a:ext cx="0" cy="125123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D8D766B-A1B7-4E99-B6C2-035F7A7A45D8}"/>
              </a:ext>
            </a:extLst>
          </p:cNvPr>
          <p:cNvSpPr txBox="1"/>
          <p:nvPr/>
        </p:nvSpPr>
        <p:spPr>
          <a:xfrm>
            <a:off x="4917348" y="196261"/>
            <a:ext cx="1968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Verlengstuklengte</a:t>
            </a:r>
            <a:r>
              <a:rPr lang="en-GB" sz="1400" dirty="0"/>
              <a:t> (m)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383F7DA-7165-4AB1-8FA5-93F0C1082F9F}"/>
              </a:ext>
            </a:extLst>
          </p:cNvPr>
          <p:cNvSpPr/>
          <p:nvPr/>
        </p:nvSpPr>
        <p:spPr>
          <a:xfrm>
            <a:off x="3329718" y="1112241"/>
            <a:ext cx="12819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h3refA(</a:t>
            </a:r>
            <a:r>
              <a:rPr lang="en-GB" sz="1400" dirty="0" err="1"/>
              <a:t>mNAP</a:t>
            </a:r>
            <a:r>
              <a:rPr lang="en-GB" sz="1400" dirty="0"/>
              <a:t>)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4AC4FA4-F3C5-495D-BA0E-71E780BB3C0F}"/>
              </a:ext>
            </a:extLst>
          </p:cNvPr>
          <p:cNvSpPr txBox="1"/>
          <p:nvPr/>
        </p:nvSpPr>
        <p:spPr>
          <a:xfrm>
            <a:off x="8927691" y="2550773"/>
            <a:ext cx="265552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 err="1"/>
              <a:t>Systeem</a:t>
            </a:r>
            <a:r>
              <a:rPr lang="en-GB" sz="1400" dirty="0"/>
              <a:t> </a:t>
            </a:r>
            <a:r>
              <a:rPr lang="en-GB" sz="1400" dirty="0" err="1"/>
              <a:t>configuratie</a:t>
            </a:r>
            <a:r>
              <a:rPr lang="en-GB" sz="1400" dirty="0"/>
              <a:t>:</a:t>
            </a:r>
          </a:p>
          <a:p>
            <a:r>
              <a:rPr lang="en-GB" sz="1400" dirty="0" err="1"/>
              <a:t>Gebruikt</a:t>
            </a:r>
            <a:r>
              <a:rPr lang="en-GB" sz="1400" dirty="0"/>
              <a:t> Sensors : h1,h2,h3</a:t>
            </a:r>
          </a:p>
          <a:p>
            <a:r>
              <a:rPr lang="en-GB" sz="1400" dirty="0" err="1"/>
              <a:t>Configuratie</a:t>
            </a:r>
            <a:r>
              <a:rPr lang="en-GB" sz="1400" dirty="0"/>
              <a:t>: h1ref, h2ref,h3ref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14116D-BDC5-4564-A6AE-302111942D8D}"/>
              </a:ext>
            </a:extLst>
          </p:cNvPr>
          <p:cNvSpPr txBox="1"/>
          <p:nvPr/>
        </p:nvSpPr>
        <p:spPr>
          <a:xfrm>
            <a:off x="6537837" y="5167778"/>
            <a:ext cx="265552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UITZONDERING</a:t>
            </a:r>
          </a:p>
          <a:p>
            <a:r>
              <a:rPr lang="en-GB" sz="1400" dirty="0"/>
              <a:t>ALS h1&lt;h3 Q=0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11D2DF4-827E-4F97-8DD0-A2D009CEC3ED}"/>
              </a:ext>
            </a:extLst>
          </p:cNvPr>
          <p:cNvCxnSpPr>
            <a:cxnSpLocks/>
          </p:cNvCxnSpPr>
          <p:nvPr/>
        </p:nvCxnSpPr>
        <p:spPr>
          <a:xfrm flipH="1">
            <a:off x="6281391" y="2665406"/>
            <a:ext cx="1261480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CFEDD90-5078-45E7-B0B4-8AE75F8325F7}"/>
              </a:ext>
            </a:extLst>
          </p:cNvPr>
          <p:cNvCxnSpPr>
            <a:cxnSpLocks/>
          </p:cNvCxnSpPr>
          <p:nvPr/>
        </p:nvCxnSpPr>
        <p:spPr>
          <a:xfrm flipH="1">
            <a:off x="466949" y="2034667"/>
            <a:ext cx="1261480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8777D1C-FA14-46AC-8418-8381E1031AE4}"/>
              </a:ext>
            </a:extLst>
          </p:cNvPr>
          <p:cNvCxnSpPr>
            <a:cxnSpLocks/>
          </p:cNvCxnSpPr>
          <p:nvPr/>
        </p:nvCxnSpPr>
        <p:spPr>
          <a:xfrm flipH="1">
            <a:off x="5650651" y="4125299"/>
            <a:ext cx="1261480" cy="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2C08376-C77D-4F15-ABD5-E737DFC9D9B1}"/>
              </a:ext>
            </a:extLst>
          </p:cNvPr>
          <p:cNvSpPr txBox="1"/>
          <p:nvPr/>
        </p:nvSpPr>
        <p:spPr>
          <a:xfrm>
            <a:off x="5769240" y="4055892"/>
            <a:ext cx="1614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/>
              <a:t>hk</a:t>
            </a:r>
            <a:r>
              <a:rPr lang="en-GB" sz="1400" dirty="0"/>
              <a:t>=h3(</a:t>
            </a:r>
            <a:r>
              <a:rPr lang="en-GB" sz="1400" dirty="0" err="1"/>
              <a:t>mNAP</a:t>
            </a:r>
            <a:r>
              <a:rPr lang="en-GB" sz="1400" dirty="0"/>
              <a:t>)</a:t>
            </a:r>
            <a:br>
              <a:rPr lang="en-GB" sz="1400" dirty="0"/>
            </a:br>
            <a:r>
              <a:rPr lang="en-GB" sz="1400" dirty="0"/>
              <a:t>Lange </a:t>
            </a:r>
            <a:r>
              <a:rPr lang="en-GB" sz="1400" dirty="0" err="1"/>
              <a:t>overlaat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88438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FA124-66FF-439C-8924-968D6179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3 type </a:t>
            </a:r>
            <a:r>
              <a:rPr lang="en-GB" b="1" dirty="0" err="1"/>
              <a:t>Formule’s</a:t>
            </a:r>
            <a:endParaRPr lang="en-GB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7FB5F7-1124-40A9-A35F-048430599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650"/>
            <a:ext cx="10515600" cy="4786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chemeClr val="dk1"/>
                </a:solidFill>
              </a:rPr>
              <a:t>Voor elke opstelling, wordt de </a:t>
            </a:r>
            <a:r>
              <a:rPr lang="nl-NL" dirty="0" err="1">
                <a:solidFill>
                  <a:schemeClr val="dk1"/>
                </a:solidFill>
              </a:rPr>
              <a:t>coef</a:t>
            </a:r>
            <a:r>
              <a:rPr lang="nl-NL" dirty="0">
                <a:solidFill>
                  <a:schemeClr val="dk1"/>
                </a:solidFill>
              </a:rPr>
              <a:t> en </a:t>
            </a:r>
            <a:r>
              <a:rPr lang="nl-NL" dirty="0" err="1">
                <a:solidFill>
                  <a:schemeClr val="dk1"/>
                </a:solidFill>
              </a:rPr>
              <a:t>powercoef</a:t>
            </a:r>
            <a:r>
              <a:rPr lang="nl-NL" dirty="0">
                <a:solidFill>
                  <a:schemeClr val="dk1"/>
                </a:solidFill>
              </a:rPr>
              <a:t> gespecifieerd.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80DBA11-7002-4F11-98D2-67D5566BC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742715"/>
              </p:ext>
            </p:extLst>
          </p:nvPr>
        </p:nvGraphicFramePr>
        <p:xfrm>
          <a:off x="963561" y="1952625"/>
          <a:ext cx="979293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2066">
                  <a:extLst>
                    <a:ext uri="{9D8B030D-6E8A-4147-A177-3AD203B41FA5}">
                      <a16:colId xmlns:a16="http://schemas.microsoft.com/office/drawing/2014/main" val="3224831496"/>
                    </a:ext>
                  </a:extLst>
                </a:gridCol>
                <a:gridCol w="622496">
                  <a:extLst>
                    <a:ext uri="{9D8B030D-6E8A-4147-A177-3AD203B41FA5}">
                      <a16:colId xmlns:a16="http://schemas.microsoft.com/office/drawing/2014/main" val="3674330166"/>
                    </a:ext>
                  </a:extLst>
                </a:gridCol>
                <a:gridCol w="622496">
                  <a:extLst>
                    <a:ext uri="{9D8B030D-6E8A-4147-A177-3AD203B41FA5}">
                      <a16:colId xmlns:a16="http://schemas.microsoft.com/office/drawing/2014/main" val="147602997"/>
                    </a:ext>
                  </a:extLst>
                </a:gridCol>
                <a:gridCol w="1024360">
                  <a:extLst>
                    <a:ext uri="{9D8B030D-6E8A-4147-A177-3AD203B41FA5}">
                      <a16:colId xmlns:a16="http://schemas.microsoft.com/office/drawing/2014/main" val="2414064699"/>
                    </a:ext>
                  </a:extLst>
                </a:gridCol>
                <a:gridCol w="5271512">
                  <a:extLst>
                    <a:ext uri="{9D8B030D-6E8A-4147-A177-3AD203B41FA5}">
                      <a16:colId xmlns:a16="http://schemas.microsoft.com/office/drawing/2014/main" val="2874033691"/>
                    </a:ext>
                  </a:extLst>
                </a:gridCol>
              </a:tblGrid>
              <a:tr h="273535">
                <a:tc>
                  <a:txBody>
                    <a:bodyPr/>
                    <a:lstStyle/>
                    <a:p>
                      <a:r>
                        <a:rPr lang="en-GB" sz="1400" dirty="0" err="1"/>
                        <a:t>Opstelling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Systeem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Linear </a:t>
                      </a:r>
                      <a:r>
                        <a:rPr lang="en-GB" sz="1400" dirty="0" err="1"/>
                        <a:t>Coef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err="1"/>
                        <a:t>PowerCoef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Formula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496252"/>
                  </a:ext>
                </a:extLst>
              </a:tr>
              <a:tr h="271096">
                <a:tc>
                  <a:txBody>
                    <a:bodyPr/>
                    <a:lstStyle/>
                    <a:p>
                      <a:r>
                        <a:rPr lang="en-GB" sz="1400" dirty="0"/>
                        <a:t>UB01/UB02/UB03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dirty="0">
                          <a:solidFill>
                            <a:schemeClr val="dk1"/>
                          </a:solidFill>
                        </a:rPr>
                        <a:t>Q = LineaireCoef*hs</a:t>
                      </a:r>
                      <a:r>
                        <a:rPr lang="nl-NL" sz="1400" b="1" baseline="30000" dirty="0">
                          <a:solidFill>
                            <a:schemeClr val="dk1"/>
                          </a:solidFill>
                        </a:rPr>
                        <a:t>powercoef </a:t>
                      </a:r>
                      <a:r>
                        <a:rPr lang="nl-NL" sz="1400" b="1" dirty="0">
                          <a:solidFill>
                            <a:schemeClr val="dk1"/>
                          </a:solidFill>
                        </a:rPr>
                        <a:t>*86400 (m</a:t>
                      </a:r>
                      <a:r>
                        <a:rPr lang="nl-NL" sz="1400" b="1" baseline="30000" dirty="0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nl-NL" sz="1400" b="1" dirty="0">
                          <a:solidFill>
                            <a:schemeClr val="dk1"/>
                          </a:solidFill>
                        </a:rPr>
                        <a:t>/dag)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194625"/>
                  </a:ext>
                </a:extLst>
              </a:tr>
              <a:tr h="273535">
                <a:tc>
                  <a:txBody>
                    <a:bodyPr/>
                    <a:lstStyle/>
                    <a:p>
                      <a:r>
                        <a:rPr lang="en-GB" sz="1400" dirty="0"/>
                        <a:t>UB04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1.396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917998"/>
                  </a:ext>
                </a:extLst>
              </a:tr>
              <a:tr h="273535">
                <a:tc>
                  <a:txBody>
                    <a:bodyPr/>
                    <a:lstStyle/>
                    <a:p>
                      <a:r>
                        <a:rPr lang="en-GB" sz="1400" dirty="0"/>
                        <a:t>UB05/UB06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57292"/>
                  </a:ext>
                </a:extLst>
              </a:tr>
              <a:tr h="273535">
                <a:tc>
                  <a:txBody>
                    <a:bodyPr/>
                    <a:lstStyle/>
                    <a:p>
                      <a:r>
                        <a:rPr lang="en-GB" sz="1400" dirty="0"/>
                        <a:t>UB07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232720"/>
                  </a:ext>
                </a:extLst>
              </a:tr>
              <a:tr h="273535">
                <a:tc>
                  <a:txBody>
                    <a:bodyPr/>
                    <a:lstStyle/>
                    <a:p>
                      <a:r>
                        <a:rPr lang="en-GB" sz="1400" dirty="0"/>
                        <a:t>UB09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9192"/>
                  </a:ext>
                </a:extLst>
              </a:tr>
              <a:tr h="273535">
                <a:tc>
                  <a:txBody>
                    <a:bodyPr/>
                    <a:lstStyle/>
                    <a:p>
                      <a:r>
                        <a:rPr lang="en-GB" sz="1400" dirty="0"/>
                        <a:t>UB10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194080"/>
                  </a:ext>
                </a:extLst>
              </a:tr>
              <a:tr h="271096">
                <a:tc>
                  <a:txBody>
                    <a:bodyPr/>
                    <a:lstStyle/>
                    <a:p>
                      <a:r>
                        <a:rPr lang="en-GB" sz="1400" dirty="0"/>
                        <a:t>UB11/UB12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1" dirty="0"/>
                        <a:t>Q = LineareCoef*a*(19.62*(h1-h2))</a:t>
                      </a:r>
                      <a:r>
                        <a:rPr lang="nl-NL" sz="1400" b="1" baseline="30000" dirty="0">
                          <a:solidFill>
                            <a:schemeClr val="dk1"/>
                          </a:solidFill>
                        </a:rPr>
                        <a:t> powercoef</a:t>
                      </a:r>
                      <a:r>
                        <a:rPr lang="nl-NL" sz="1400" b="1" dirty="0"/>
                        <a:t>*86400  (m</a:t>
                      </a:r>
                      <a:r>
                        <a:rPr lang="nl-NL" sz="1400" b="1" baseline="30000" dirty="0"/>
                        <a:t>3</a:t>
                      </a:r>
                      <a:r>
                        <a:rPr lang="nl-NL" sz="1400" b="1" dirty="0"/>
                        <a:t>/dag)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650963"/>
                  </a:ext>
                </a:extLst>
              </a:tr>
              <a:tr h="271096">
                <a:tc>
                  <a:txBody>
                    <a:bodyPr/>
                    <a:lstStyle/>
                    <a:p>
                      <a:r>
                        <a:rPr lang="en-GB" sz="1400" dirty="0"/>
                        <a:t>UB40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0.666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0" dirty="0"/>
                        <a:t>Idem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241149"/>
                  </a:ext>
                </a:extLst>
              </a:tr>
              <a:tr h="273535">
                <a:tc>
                  <a:txBody>
                    <a:bodyPr/>
                    <a:lstStyle/>
                    <a:p>
                      <a:r>
                        <a:rPr lang="en-GB" sz="1400" dirty="0"/>
                        <a:t>STUW03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1" dirty="0"/>
                        <a:t>Q = Cdr*Lineare Coef*(h</a:t>
                      </a:r>
                      <a:r>
                        <a:rPr lang="nl-NL" sz="1400" b="1" baseline="-25000" dirty="0"/>
                        <a:t>s</a:t>
                      </a:r>
                      <a:r>
                        <a:rPr lang="nl-NL" sz="1400" b="1" dirty="0"/>
                        <a:t>)</a:t>
                      </a:r>
                      <a:r>
                        <a:rPr lang="nl-NL" sz="1400" b="1" baseline="30000" dirty="0"/>
                        <a:t>powercoef </a:t>
                      </a:r>
                      <a:r>
                        <a:rPr lang="nl-NL" sz="1400" b="1" dirty="0"/>
                        <a:t>*86400</a:t>
                      </a:r>
                      <a:r>
                        <a:rPr lang="nl-NL" sz="1400" b="1" baseline="30000" dirty="0"/>
                        <a:t>   </a:t>
                      </a:r>
                      <a:r>
                        <a:rPr lang="nl-NL" sz="1400" b="1" dirty="0"/>
                        <a:t>(m</a:t>
                      </a:r>
                      <a:r>
                        <a:rPr lang="nl-NL" sz="1400" b="1" baseline="30000" dirty="0"/>
                        <a:t>3</a:t>
                      </a:r>
                      <a:r>
                        <a:rPr lang="nl-NL" sz="1400" b="1" dirty="0"/>
                        <a:t>/dag)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810945"/>
                  </a:ext>
                </a:extLst>
              </a:tr>
              <a:tr h="273535">
                <a:tc>
                  <a:txBody>
                    <a:bodyPr/>
                    <a:lstStyle/>
                    <a:p>
                      <a:r>
                        <a:rPr lang="en-GB" sz="1400" dirty="0"/>
                        <a:t>STUW04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043202"/>
                  </a:ext>
                </a:extLst>
              </a:tr>
              <a:tr h="258030">
                <a:tc>
                  <a:txBody>
                    <a:bodyPr/>
                    <a:lstStyle/>
                    <a:p>
                      <a:r>
                        <a:rPr lang="en-GB" sz="1400" dirty="0"/>
                        <a:t>STUW12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1.575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Idem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1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72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AFD0D-214E-4BAC-BFB0-7E111BA4A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Configuratie</a:t>
            </a:r>
            <a:r>
              <a:rPr lang="en-GB" b="1" dirty="0"/>
              <a:t>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B0F9C-C617-472F-A011-8211BA6BD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Om </a:t>
            </a:r>
            <a:r>
              <a:rPr lang="en-GB" dirty="0" err="1"/>
              <a:t>debiet</a:t>
            </a:r>
            <a:r>
              <a:rPr lang="en-GB" dirty="0"/>
              <a:t> </a:t>
            </a:r>
            <a:r>
              <a:rPr lang="en-GB" dirty="0" err="1"/>
              <a:t>goed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kunnen</a:t>
            </a:r>
            <a:r>
              <a:rPr lang="en-GB" dirty="0"/>
              <a:t> </a:t>
            </a:r>
            <a:r>
              <a:rPr lang="en-GB" dirty="0" err="1"/>
              <a:t>berekenen</a:t>
            </a:r>
            <a:r>
              <a:rPr lang="en-GB" dirty="0"/>
              <a:t>, </a:t>
            </a:r>
            <a:r>
              <a:rPr lang="en-GB" dirty="0" err="1"/>
              <a:t>dient</a:t>
            </a:r>
            <a:r>
              <a:rPr lang="en-GB" dirty="0"/>
              <a:t> men de </a:t>
            </a:r>
            <a:r>
              <a:rPr lang="en-GB" dirty="0" err="1"/>
              <a:t>volgende</a:t>
            </a:r>
            <a:r>
              <a:rPr lang="en-GB" dirty="0"/>
              <a:t> parameters in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vullen</a:t>
            </a:r>
            <a:endParaRPr lang="en-GB" dirty="0"/>
          </a:p>
          <a:p>
            <a:r>
              <a:rPr lang="en-GB" dirty="0" err="1"/>
              <a:t>TypeOpstelling</a:t>
            </a:r>
            <a:r>
              <a:rPr lang="en-GB" dirty="0"/>
              <a:t>: </a:t>
            </a:r>
            <a:r>
              <a:rPr lang="en-GB" dirty="0" err="1"/>
              <a:t>een</a:t>
            </a:r>
            <a:r>
              <a:rPr lang="en-GB" dirty="0"/>
              <a:t> van [A,B,C]</a:t>
            </a:r>
          </a:p>
          <a:p>
            <a:r>
              <a:rPr lang="en-GB" dirty="0" err="1"/>
              <a:t>NAPm</a:t>
            </a:r>
            <a:r>
              <a:rPr lang="en-GB" dirty="0"/>
              <a:t> </a:t>
            </a:r>
            <a:r>
              <a:rPr lang="en-GB" dirty="0" err="1"/>
              <a:t>waarde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System A [h1ref,h3ref]</a:t>
            </a:r>
          </a:p>
          <a:p>
            <a:pPr lvl="1"/>
            <a:r>
              <a:rPr lang="en-GB" dirty="0" err="1"/>
              <a:t>Systeem</a:t>
            </a:r>
            <a:r>
              <a:rPr lang="en-GB" dirty="0"/>
              <a:t> B[h1ref, h2ref,h3ref]</a:t>
            </a:r>
          </a:p>
          <a:p>
            <a:pPr lvl="1"/>
            <a:r>
              <a:rPr lang="en-GB" dirty="0" err="1"/>
              <a:t>Systeem</a:t>
            </a:r>
            <a:r>
              <a:rPr lang="en-GB" dirty="0"/>
              <a:t> C[h0ref, h1ref, h2ref,h3ref]</a:t>
            </a:r>
          </a:p>
          <a:p>
            <a:r>
              <a:rPr lang="en-GB" dirty="0" err="1"/>
              <a:t>DebietFormuleLinearCoef</a:t>
            </a:r>
            <a:r>
              <a:rPr lang="en-GB" dirty="0"/>
              <a:t>:</a:t>
            </a:r>
          </a:p>
          <a:p>
            <a:r>
              <a:rPr lang="en-GB" dirty="0" err="1"/>
              <a:t>DebietFormulePowerCoef</a:t>
            </a:r>
            <a:r>
              <a:rPr lang="en-GB" dirty="0"/>
              <a:t>:</a:t>
            </a:r>
          </a:p>
          <a:p>
            <a:r>
              <a:rPr lang="en-GB" dirty="0"/>
              <a:t>SensorUsed:h1,h2,h3,h4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6489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6C21F18-A8D3-4562-B10A-2BD4562BB8B3" descr="B6C21F18-A8D3-4562-B10A-2BD4562BB8B3">
            <a:extLst>
              <a:ext uri="{FF2B5EF4-FFF2-40B4-BE49-F238E27FC236}">
                <a16:creationId xmlns:a16="http://schemas.microsoft.com/office/drawing/2014/main" id="{33A2E6B8-867B-41C0-A28A-4244C2144B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32" b="13368"/>
          <a:stretch/>
        </p:blipFill>
        <p:spPr bwMode="auto">
          <a:xfrm>
            <a:off x="-1" y="10"/>
            <a:ext cx="1219200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FA389-4992-457A-BC29-72AA0E7B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48" y="1913950"/>
            <a:ext cx="4204137" cy="1342754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 err="1"/>
              <a:t>Fysieke</a:t>
            </a:r>
            <a:r>
              <a:rPr lang="en-GB" sz="3600" b="1" dirty="0"/>
              <a:t> </a:t>
            </a:r>
            <a:r>
              <a:rPr lang="en-GB" sz="3600" b="1" dirty="0" err="1"/>
              <a:t>Omschrijving</a:t>
            </a:r>
            <a:endParaRPr lang="en-GB" sz="3600" b="1" dirty="0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277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5E3C-53E4-4D26-883A-6D00413CC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Device </a:t>
            </a:r>
            <a:r>
              <a:rPr lang="en-GB" b="1" dirty="0" err="1"/>
              <a:t>omschrijving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ACFDC-360B-48F4-918C-1448E1902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Het Device </a:t>
            </a:r>
            <a:r>
              <a:rPr lang="en-GB" dirty="0" err="1"/>
              <a:t>heeft</a:t>
            </a:r>
            <a:r>
              <a:rPr lang="en-GB" dirty="0"/>
              <a:t> 4-20mA </a:t>
            </a:r>
            <a:r>
              <a:rPr lang="en-GB" dirty="0" err="1"/>
              <a:t>analog</a:t>
            </a:r>
            <a:r>
              <a:rPr lang="en-GB" dirty="0"/>
              <a:t> input </a:t>
            </a:r>
            <a:r>
              <a:rPr lang="en-GB" dirty="0" err="1"/>
              <a:t>en</a:t>
            </a:r>
            <a:r>
              <a:rPr lang="en-GB" dirty="0"/>
              <a:t> 1 </a:t>
            </a:r>
            <a:r>
              <a:rPr lang="en-GB" dirty="0" err="1"/>
              <a:t>analog</a:t>
            </a:r>
            <a:r>
              <a:rPr lang="en-GB" dirty="0"/>
              <a:t> output.</a:t>
            </a:r>
          </a:p>
          <a:p>
            <a:r>
              <a:rPr lang="en-GB" dirty="0"/>
              <a:t>De </a:t>
            </a:r>
            <a:r>
              <a:rPr lang="en-GB" dirty="0" err="1"/>
              <a:t>metingen</a:t>
            </a:r>
            <a:r>
              <a:rPr lang="en-GB" dirty="0"/>
              <a:t> </a:t>
            </a:r>
            <a:r>
              <a:rPr lang="en-GB" dirty="0" err="1"/>
              <a:t>worden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gedaan</a:t>
            </a:r>
            <a:r>
              <a:rPr lang="en-GB" dirty="0"/>
              <a:t>.</a:t>
            </a:r>
          </a:p>
          <a:p>
            <a:r>
              <a:rPr lang="en-GB" dirty="0"/>
              <a:t>Input 1-3 </a:t>
            </a:r>
            <a:r>
              <a:rPr lang="en-GB" dirty="0" err="1"/>
              <a:t>worden</a:t>
            </a:r>
            <a:r>
              <a:rPr lang="en-GB" dirty="0"/>
              <a:t> </a:t>
            </a:r>
            <a:r>
              <a:rPr lang="en-GB" dirty="0" err="1"/>
              <a:t>gebruikt</a:t>
            </a:r>
            <a:r>
              <a:rPr lang="en-GB" dirty="0"/>
              <a:t> om </a:t>
            </a:r>
            <a:r>
              <a:rPr lang="en-GB" dirty="0" err="1"/>
              <a:t>afstand</a:t>
            </a:r>
            <a:r>
              <a:rPr lang="en-GB" dirty="0"/>
              <a:t>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meten</a:t>
            </a:r>
            <a:r>
              <a:rPr lang="en-GB" dirty="0"/>
              <a:t> door </a:t>
            </a:r>
            <a:r>
              <a:rPr lang="en-GB" dirty="0" err="1"/>
              <a:t>middel</a:t>
            </a:r>
            <a:r>
              <a:rPr lang="en-GB" dirty="0"/>
              <a:t> van 4-20mA ultrasound sensors. </a:t>
            </a:r>
          </a:p>
          <a:p>
            <a:r>
              <a:rPr lang="en-GB" dirty="0"/>
              <a:t>Input 4 </a:t>
            </a:r>
            <a:r>
              <a:rPr lang="en-GB" dirty="0" err="1"/>
              <a:t>wordt</a:t>
            </a:r>
            <a:r>
              <a:rPr lang="en-GB" dirty="0"/>
              <a:t> </a:t>
            </a:r>
            <a:r>
              <a:rPr lang="en-GB" dirty="0" err="1"/>
              <a:t>gebruikt</a:t>
            </a:r>
            <a:r>
              <a:rPr lang="en-GB" dirty="0"/>
              <a:t> </a:t>
            </a:r>
            <a:r>
              <a:rPr lang="en-GB" dirty="0" err="1"/>
              <a:t>voor</a:t>
            </a:r>
            <a:r>
              <a:rPr lang="en-GB" dirty="0"/>
              <a:t> het </a:t>
            </a:r>
            <a:r>
              <a:rPr lang="en-GB" dirty="0" err="1"/>
              <a:t>meten</a:t>
            </a:r>
            <a:r>
              <a:rPr lang="en-GB" dirty="0"/>
              <a:t> van de </a:t>
            </a:r>
            <a:r>
              <a:rPr lang="en-GB" dirty="0" err="1"/>
              <a:t>watertemperatuur</a:t>
            </a:r>
            <a:r>
              <a:rPr lang="en-GB" dirty="0"/>
              <a:t>. </a:t>
            </a:r>
          </a:p>
          <a:p>
            <a:r>
              <a:rPr lang="en-GB" dirty="0"/>
              <a:t>De </a:t>
            </a:r>
            <a:r>
              <a:rPr lang="en-GB" dirty="0" err="1"/>
              <a:t>analog</a:t>
            </a:r>
            <a:r>
              <a:rPr lang="en-GB" dirty="0"/>
              <a:t> Output </a:t>
            </a:r>
            <a:r>
              <a:rPr lang="en-GB" dirty="0" err="1"/>
              <a:t>wordt</a:t>
            </a:r>
            <a:r>
              <a:rPr lang="en-GB" dirty="0"/>
              <a:t>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gebruikt</a:t>
            </a:r>
            <a:r>
              <a:rPr lang="en-GB" dirty="0"/>
              <a:t> in de </a:t>
            </a:r>
            <a:r>
              <a:rPr lang="en-GB" dirty="0" err="1"/>
              <a:t>volgende</a:t>
            </a:r>
            <a:r>
              <a:rPr lang="en-GB" dirty="0"/>
              <a:t> </a:t>
            </a:r>
            <a:r>
              <a:rPr lang="en-GB" dirty="0" err="1"/>
              <a:t>configuratie</a:t>
            </a:r>
            <a:r>
              <a:rPr lang="en-GB" dirty="0"/>
              <a:t>.</a:t>
            </a:r>
          </a:p>
          <a:p>
            <a:r>
              <a:rPr lang="en-GB" dirty="0"/>
              <a:t>De </a:t>
            </a:r>
            <a:r>
              <a:rPr lang="en-GB" dirty="0" err="1"/>
              <a:t>metingen</a:t>
            </a:r>
            <a:r>
              <a:rPr lang="en-GB" dirty="0"/>
              <a:t> </a:t>
            </a:r>
            <a:r>
              <a:rPr lang="en-GB" dirty="0" err="1"/>
              <a:t>worden</a:t>
            </a:r>
            <a:r>
              <a:rPr lang="en-GB" dirty="0"/>
              <a:t> </a:t>
            </a:r>
            <a:r>
              <a:rPr lang="en-GB" dirty="0" err="1"/>
              <a:t>alleen</a:t>
            </a:r>
            <a:r>
              <a:rPr lang="en-GB" dirty="0"/>
              <a:t> </a:t>
            </a:r>
            <a:r>
              <a:rPr lang="en-GB" dirty="0" err="1"/>
              <a:t>uitgevoerd</a:t>
            </a:r>
            <a:r>
              <a:rPr lang="en-GB" dirty="0"/>
              <a:t> </a:t>
            </a:r>
            <a:r>
              <a:rPr lang="en-GB" dirty="0" err="1"/>
              <a:t>wanneer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externe</a:t>
            </a:r>
            <a:r>
              <a:rPr lang="en-GB" dirty="0"/>
              <a:t> </a:t>
            </a:r>
            <a:r>
              <a:rPr lang="en-GB" dirty="0" err="1"/>
              <a:t>voeding</a:t>
            </a:r>
            <a:r>
              <a:rPr lang="en-GB" dirty="0"/>
              <a:t> is </a:t>
            </a:r>
            <a:r>
              <a:rPr lang="en-GB" dirty="0" err="1"/>
              <a:t>aangesloten</a:t>
            </a:r>
            <a:r>
              <a:rPr lang="en-GB" dirty="0"/>
              <a:t>. De </a:t>
            </a:r>
            <a:r>
              <a:rPr lang="en-GB" dirty="0" err="1"/>
              <a:t>voedig</a:t>
            </a:r>
            <a:r>
              <a:rPr lang="en-GB" dirty="0"/>
              <a:t> </a:t>
            </a:r>
            <a:r>
              <a:rPr lang="en-GB" dirty="0" err="1"/>
              <a:t>moet</a:t>
            </a:r>
            <a:r>
              <a:rPr lang="en-GB" dirty="0"/>
              <a:t> </a:t>
            </a:r>
            <a:r>
              <a:rPr lang="en-GB" dirty="0" err="1"/>
              <a:t>minimaal</a:t>
            </a:r>
            <a:r>
              <a:rPr lang="en-GB" dirty="0"/>
              <a:t> 10V </a:t>
            </a:r>
            <a:r>
              <a:rPr lang="en-GB" dirty="0" err="1"/>
              <a:t>zijn</a:t>
            </a:r>
            <a:r>
              <a:rPr lang="en-GB" dirty="0"/>
              <a:t>. In de </a:t>
            </a:r>
            <a:r>
              <a:rPr lang="en-GB" dirty="0" err="1"/>
              <a:t>volgende</a:t>
            </a:r>
            <a:r>
              <a:rPr lang="en-GB" dirty="0"/>
              <a:t> </a:t>
            </a:r>
            <a:r>
              <a:rPr lang="en-GB" dirty="0" err="1"/>
              <a:t>configuratie</a:t>
            </a:r>
            <a:r>
              <a:rPr lang="en-GB" dirty="0"/>
              <a:t> </a:t>
            </a:r>
            <a:r>
              <a:rPr lang="en-GB" dirty="0" err="1"/>
              <a:t>wordt</a:t>
            </a:r>
            <a:r>
              <a:rPr lang="en-GB" dirty="0"/>
              <a:t> het </a:t>
            </a:r>
            <a:r>
              <a:rPr lang="en-GB" dirty="0" err="1"/>
              <a:t>solarpanel</a:t>
            </a:r>
            <a:r>
              <a:rPr lang="en-GB" dirty="0"/>
              <a:t> </a:t>
            </a:r>
            <a:r>
              <a:rPr lang="en-GB" dirty="0" err="1"/>
              <a:t>aangesloten</a:t>
            </a:r>
            <a:r>
              <a:rPr lang="en-GB" dirty="0"/>
              <a:t>. </a:t>
            </a:r>
          </a:p>
          <a:p>
            <a:r>
              <a:rPr lang="en-GB" dirty="0"/>
              <a:t>Het device </a:t>
            </a:r>
            <a:r>
              <a:rPr lang="en-GB" dirty="0" err="1"/>
              <a:t>heeft</a:t>
            </a:r>
            <a:r>
              <a:rPr lang="en-GB" dirty="0"/>
              <a:t> 1 scherm om </a:t>
            </a:r>
            <a:r>
              <a:rPr lang="en-GB" dirty="0" err="1"/>
              <a:t>informatie</a:t>
            </a:r>
            <a:r>
              <a:rPr lang="en-GB" dirty="0"/>
              <a:t> real time </a:t>
            </a:r>
            <a:r>
              <a:rPr lang="en-GB" dirty="0" err="1"/>
              <a:t>te</a:t>
            </a:r>
            <a:r>
              <a:rPr lang="en-GB" dirty="0"/>
              <a:t> </a:t>
            </a:r>
            <a:r>
              <a:rPr lang="en-GB" dirty="0" err="1"/>
              <a:t>delen</a:t>
            </a:r>
            <a:r>
              <a:rPr lang="en-GB" dirty="0"/>
              <a:t> met de </a:t>
            </a:r>
            <a:r>
              <a:rPr lang="en-GB" dirty="0" err="1"/>
              <a:t>gebruiker</a:t>
            </a:r>
            <a:r>
              <a:rPr lang="en-GB" dirty="0"/>
              <a:t>.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5106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98EBF458-FBF6-44B0-9E0F-7ACFF59280B8" descr="98EBF458-FBF6-44B0-9E0F-7ACFF59280B8">
            <a:extLst>
              <a:ext uri="{FF2B5EF4-FFF2-40B4-BE49-F238E27FC236}">
                <a16:creationId xmlns:a16="http://schemas.microsoft.com/office/drawing/2014/main" id="{9D0E5304-4207-4F37-95CB-9BDFA0E0BF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7" t="9299" r="2453" b="8368"/>
          <a:stretch/>
        </p:blipFill>
        <p:spPr bwMode="auto">
          <a:xfrm>
            <a:off x="2686050" y="324832"/>
            <a:ext cx="8671560" cy="620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706B17-80AB-4565-8533-61B00FA0330C}"/>
              </a:ext>
            </a:extLst>
          </p:cNvPr>
          <p:cNvSpPr/>
          <p:nvPr/>
        </p:nvSpPr>
        <p:spPr>
          <a:xfrm>
            <a:off x="5002530" y="5288280"/>
            <a:ext cx="655320" cy="3962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56C176-C8EC-420A-AFBD-A1804CBC04B8}"/>
              </a:ext>
            </a:extLst>
          </p:cNvPr>
          <p:cNvSpPr/>
          <p:nvPr/>
        </p:nvSpPr>
        <p:spPr>
          <a:xfrm>
            <a:off x="5657850" y="5288280"/>
            <a:ext cx="655320" cy="3962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990423-37FD-422A-B6EE-C2AA44AD7A34}"/>
              </a:ext>
            </a:extLst>
          </p:cNvPr>
          <p:cNvSpPr/>
          <p:nvPr/>
        </p:nvSpPr>
        <p:spPr>
          <a:xfrm>
            <a:off x="6313170" y="5288280"/>
            <a:ext cx="655320" cy="3962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E543D-6604-4454-A122-51C7996B5D05}"/>
              </a:ext>
            </a:extLst>
          </p:cNvPr>
          <p:cNvSpPr/>
          <p:nvPr/>
        </p:nvSpPr>
        <p:spPr>
          <a:xfrm>
            <a:off x="6968490" y="5273040"/>
            <a:ext cx="655320" cy="3962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Temp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240D86-94EF-4688-9157-E58266A8FDAF}"/>
              </a:ext>
            </a:extLst>
          </p:cNvPr>
          <p:cNvSpPr/>
          <p:nvPr/>
        </p:nvSpPr>
        <p:spPr>
          <a:xfrm>
            <a:off x="7875270" y="5074920"/>
            <a:ext cx="1539240" cy="3962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Voeding</a:t>
            </a:r>
            <a:r>
              <a:rPr lang="en-GB" sz="1600" dirty="0"/>
              <a:t> 12V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CDFBFB-A141-4C8D-BEC1-F1078235D86D}"/>
              </a:ext>
            </a:extLst>
          </p:cNvPr>
          <p:cNvSpPr/>
          <p:nvPr/>
        </p:nvSpPr>
        <p:spPr>
          <a:xfrm>
            <a:off x="6160770" y="324832"/>
            <a:ext cx="563880" cy="396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B751A0-F480-4D87-913A-0FB3361B87BB}"/>
              </a:ext>
            </a:extLst>
          </p:cNvPr>
          <p:cNvSpPr/>
          <p:nvPr/>
        </p:nvSpPr>
        <p:spPr>
          <a:xfrm>
            <a:off x="5596890" y="324832"/>
            <a:ext cx="563880" cy="396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err="1"/>
              <a:t>Btn</a:t>
            </a:r>
            <a:endParaRPr lang="en-GB" sz="900" dirty="0"/>
          </a:p>
          <a:p>
            <a:pPr algn="ctr"/>
            <a:r>
              <a:rPr lang="en-GB" sz="900" dirty="0"/>
              <a:t>Bottom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B90187-14B5-4743-8528-95EF23345BA8}"/>
              </a:ext>
            </a:extLst>
          </p:cNvPr>
          <p:cNvSpPr/>
          <p:nvPr/>
        </p:nvSpPr>
        <p:spPr>
          <a:xfrm>
            <a:off x="5033010" y="324832"/>
            <a:ext cx="563880" cy="396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 err="1"/>
              <a:t>Btn</a:t>
            </a:r>
            <a:endParaRPr lang="en-GB" sz="900" dirty="0"/>
          </a:p>
          <a:p>
            <a:pPr algn="ctr"/>
            <a:r>
              <a:rPr lang="en-GB" sz="900" dirty="0"/>
              <a:t>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C2A9B9-475E-47CB-B477-C6A554CB3110}"/>
              </a:ext>
            </a:extLst>
          </p:cNvPr>
          <p:cNvSpPr/>
          <p:nvPr/>
        </p:nvSpPr>
        <p:spPr>
          <a:xfrm>
            <a:off x="7379970" y="324832"/>
            <a:ext cx="845820" cy="396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SCREEN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0BF926-6F9B-4EDD-AD14-320246BA663F}"/>
              </a:ext>
            </a:extLst>
          </p:cNvPr>
          <p:cNvSpPr/>
          <p:nvPr/>
        </p:nvSpPr>
        <p:spPr>
          <a:xfrm>
            <a:off x="5330190" y="2212196"/>
            <a:ext cx="3459480" cy="396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4 LINES x 20 CHARACTERS LCD SCREEN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1882A7-0CAE-470E-829E-3FAE58F516A2}"/>
              </a:ext>
            </a:extLst>
          </p:cNvPr>
          <p:cNvSpPr/>
          <p:nvPr/>
        </p:nvSpPr>
        <p:spPr>
          <a:xfrm>
            <a:off x="9848850" y="721072"/>
            <a:ext cx="1036320" cy="586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USB</a:t>
            </a:r>
          </a:p>
          <a:p>
            <a:pPr algn="ctr"/>
            <a:r>
              <a:rPr lang="en-GB" sz="1200" dirty="0"/>
              <a:t>CONNECTOR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DF4072-1243-4BF6-A42F-25F74DC5BF9B}"/>
              </a:ext>
            </a:extLst>
          </p:cNvPr>
          <p:cNvSpPr/>
          <p:nvPr/>
        </p:nvSpPr>
        <p:spPr>
          <a:xfrm>
            <a:off x="10046970" y="3428999"/>
            <a:ext cx="1036320" cy="586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ANTENNA</a:t>
            </a:r>
          </a:p>
          <a:p>
            <a:pPr algn="ctr"/>
            <a:r>
              <a:rPr lang="en-GB" sz="1200" dirty="0"/>
              <a:t>CONNECTOR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D54FD-D051-411A-B24F-89823FE53663}"/>
              </a:ext>
            </a:extLst>
          </p:cNvPr>
          <p:cNvSpPr/>
          <p:nvPr/>
        </p:nvSpPr>
        <p:spPr>
          <a:xfrm>
            <a:off x="85725" y="248633"/>
            <a:ext cx="2379345" cy="472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INTERNAL CONNECTOR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A000E6-E354-442E-BA4F-A5C37BFF695D}"/>
              </a:ext>
            </a:extLst>
          </p:cNvPr>
          <p:cNvSpPr/>
          <p:nvPr/>
        </p:nvSpPr>
        <p:spPr>
          <a:xfrm>
            <a:off x="85724" y="775394"/>
            <a:ext cx="2379345" cy="4724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SENSOR CONNECTORS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1B6B6E-C153-479C-AF74-5951E4E5229F}"/>
              </a:ext>
            </a:extLst>
          </p:cNvPr>
          <p:cNvSpPr/>
          <p:nvPr/>
        </p:nvSpPr>
        <p:spPr>
          <a:xfrm>
            <a:off x="85723" y="1302155"/>
            <a:ext cx="2379345" cy="4724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VOEDING CONNECTORS</a:t>
            </a:r>
          </a:p>
        </p:txBody>
      </p:sp>
    </p:spTree>
    <p:extLst>
      <p:ext uri="{BB962C8B-B14F-4D97-AF65-F5344CB8AC3E}">
        <p14:creationId xmlns:p14="http://schemas.microsoft.com/office/powerpoint/2010/main" val="4262629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DD54FD-D051-411A-B24F-89823FE53663}"/>
              </a:ext>
            </a:extLst>
          </p:cNvPr>
          <p:cNvSpPr/>
          <p:nvPr/>
        </p:nvSpPr>
        <p:spPr>
          <a:xfrm>
            <a:off x="165572" y="197348"/>
            <a:ext cx="10140477" cy="402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chemeClr val="tx1"/>
                </a:solidFill>
              </a:rPr>
              <a:t>CONNECTIE SENSORS AAN DEBIET METER</a:t>
            </a:r>
          </a:p>
        </p:txBody>
      </p:sp>
      <p:pic>
        <p:nvPicPr>
          <p:cNvPr id="3074" name="821ABD3E-8875-4180-B463-EEE65CBA4514" descr="821ABD3E-8875-4180-B463-EEE65CBA4514">
            <a:extLst>
              <a:ext uri="{FF2B5EF4-FFF2-40B4-BE49-F238E27FC236}">
                <a16:creationId xmlns:a16="http://schemas.microsoft.com/office/drawing/2014/main" id="{8F793919-A4E4-44CE-870A-3266AD1079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5" t="39813" r="13885" b="18491"/>
          <a:stretch/>
        </p:blipFill>
        <p:spPr bwMode="auto">
          <a:xfrm>
            <a:off x="2544918" y="757729"/>
            <a:ext cx="9351808" cy="397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1" name="Group 2050">
            <a:extLst>
              <a:ext uri="{FF2B5EF4-FFF2-40B4-BE49-F238E27FC236}">
                <a16:creationId xmlns:a16="http://schemas.microsoft.com/office/drawing/2014/main" id="{B046E1E1-0865-4935-8AA0-C8E6688756FE}"/>
              </a:ext>
            </a:extLst>
          </p:cNvPr>
          <p:cNvGrpSpPr/>
          <p:nvPr/>
        </p:nvGrpSpPr>
        <p:grpSpPr>
          <a:xfrm>
            <a:off x="2905125" y="4276717"/>
            <a:ext cx="1819275" cy="1152533"/>
            <a:chOff x="2905125" y="4219567"/>
            <a:chExt cx="1819275" cy="115253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F8E8F7B-2848-4F86-B4A3-CCCD72B67CB7}"/>
                </a:ext>
              </a:extLst>
            </p:cNvPr>
            <p:cNvGrpSpPr/>
            <p:nvPr/>
          </p:nvGrpSpPr>
          <p:grpSpPr>
            <a:xfrm>
              <a:off x="2905125" y="4219567"/>
              <a:ext cx="1819275" cy="504218"/>
              <a:chOff x="2905125" y="4219571"/>
              <a:chExt cx="1614487" cy="40957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5C084FA-6D4D-4DCC-ACFD-C5132C49CDAC}"/>
                  </a:ext>
                </a:extLst>
              </p:cNvPr>
              <p:cNvSpPr/>
              <p:nvPr/>
            </p:nvSpPr>
            <p:spPr>
              <a:xfrm>
                <a:off x="2905125" y="4219571"/>
                <a:ext cx="538162" cy="40957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/>
                  <a:t>12V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679FF5A-1F66-48F1-A21C-522F22231205}"/>
                  </a:ext>
                </a:extLst>
              </p:cNvPr>
              <p:cNvSpPr/>
              <p:nvPr/>
            </p:nvSpPr>
            <p:spPr>
              <a:xfrm>
                <a:off x="3443288" y="4219572"/>
                <a:ext cx="538162" cy="4095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/>
                  <a:t>GND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10D251CB-E0D8-4A9E-8033-520FAED51517}"/>
                  </a:ext>
                </a:extLst>
              </p:cNvPr>
              <p:cNvSpPr/>
              <p:nvPr/>
            </p:nvSpPr>
            <p:spPr>
              <a:xfrm>
                <a:off x="3981450" y="4219572"/>
                <a:ext cx="538162" cy="40957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>
                    <a:solidFill>
                      <a:schemeClr val="tx1"/>
                    </a:solidFill>
                  </a:rPr>
                  <a:t>SIGNAL</a:t>
                </a: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308F34B-9F31-4F76-8E49-3871FF8953A7}"/>
                </a:ext>
              </a:extLst>
            </p:cNvPr>
            <p:cNvSpPr/>
            <p:nvPr/>
          </p:nvSpPr>
          <p:spPr>
            <a:xfrm>
              <a:off x="2905126" y="5000625"/>
              <a:ext cx="1819274" cy="37147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H1</a:t>
              </a:r>
            </a:p>
          </p:txBody>
        </p:sp>
        <p:cxnSp>
          <p:nvCxnSpPr>
            <p:cNvPr id="23" name="Connector: Elbow 22">
              <a:extLst>
                <a:ext uri="{FF2B5EF4-FFF2-40B4-BE49-F238E27FC236}">
                  <a16:creationId xmlns:a16="http://schemas.microsoft.com/office/drawing/2014/main" id="{204BF015-E4B0-4042-B4E4-26E70C1216C5}"/>
                </a:ext>
              </a:extLst>
            </p:cNvPr>
            <p:cNvCxnSpPr>
              <a:cxnSpLocks/>
              <a:stCxn id="17" idx="0"/>
              <a:endCxn id="2" idx="2"/>
            </p:cNvCxnSpPr>
            <p:nvPr/>
          </p:nvCxnSpPr>
          <p:spPr>
            <a:xfrm rot="16200000" flipV="1">
              <a:off x="3373131" y="4558992"/>
              <a:ext cx="276841" cy="606425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90A21493-3198-4F78-A492-579187319533}"/>
                </a:ext>
              </a:extLst>
            </p:cNvPr>
            <p:cNvCxnSpPr>
              <a:cxnSpLocks/>
              <a:stCxn id="17" idx="0"/>
              <a:endCxn id="20" idx="2"/>
            </p:cNvCxnSpPr>
            <p:nvPr/>
          </p:nvCxnSpPr>
          <p:spPr>
            <a:xfrm rot="5400000" flipH="1" flipV="1">
              <a:off x="3676345" y="4862207"/>
              <a:ext cx="276836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B0E5C98B-07B0-4827-9D09-AC33E38A3F19}"/>
                </a:ext>
              </a:extLst>
            </p:cNvPr>
            <p:cNvCxnSpPr>
              <a:cxnSpLocks/>
              <a:stCxn id="17" idx="0"/>
              <a:endCxn id="21" idx="2"/>
            </p:cNvCxnSpPr>
            <p:nvPr/>
          </p:nvCxnSpPr>
          <p:spPr>
            <a:xfrm rot="5400000" flipH="1" flipV="1">
              <a:off x="3979557" y="4558995"/>
              <a:ext cx="276836" cy="60642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9CB0CA4-8189-4350-BB8B-E12D3A7D9E3F}"/>
              </a:ext>
            </a:extLst>
          </p:cNvPr>
          <p:cNvGrpSpPr/>
          <p:nvPr/>
        </p:nvGrpSpPr>
        <p:grpSpPr>
          <a:xfrm>
            <a:off x="5114925" y="4276717"/>
            <a:ext cx="1819275" cy="1152533"/>
            <a:chOff x="2905125" y="4219567"/>
            <a:chExt cx="1819275" cy="115253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FA7C0321-713A-4EF2-9466-41222ACDD585}"/>
                </a:ext>
              </a:extLst>
            </p:cNvPr>
            <p:cNvGrpSpPr/>
            <p:nvPr/>
          </p:nvGrpSpPr>
          <p:grpSpPr>
            <a:xfrm>
              <a:off x="2905125" y="4219567"/>
              <a:ext cx="1819275" cy="504218"/>
              <a:chOff x="2905125" y="4219571"/>
              <a:chExt cx="1614487" cy="40957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4988C38-62FD-42FE-90AA-8628B152C55D}"/>
                  </a:ext>
                </a:extLst>
              </p:cNvPr>
              <p:cNvSpPr/>
              <p:nvPr/>
            </p:nvSpPr>
            <p:spPr>
              <a:xfrm>
                <a:off x="2905125" y="4219571"/>
                <a:ext cx="538162" cy="40957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/>
                  <a:t>12V 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FB1CF09-76D6-4A4E-9FCA-1864F6447F12}"/>
                  </a:ext>
                </a:extLst>
              </p:cNvPr>
              <p:cNvSpPr/>
              <p:nvPr/>
            </p:nvSpPr>
            <p:spPr>
              <a:xfrm>
                <a:off x="3443288" y="4219572"/>
                <a:ext cx="538162" cy="4095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/>
                  <a:t>GND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5FFB992-6FB9-47BF-9B36-4364012AB81F}"/>
                  </a:ext>
                </a:extLst>
              </p:cNvPr>
              <p:cNvSpPr/>
              <p:nvPr/>
            </p:nvSpPr>
            <p:spPr>
              <a:xfrm>
                <a:off x="3981450" y="4219572"/>
                <a:ext cx="538162" cy="40957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>
                    <a:solidFill>
                      <a:schemeClr val="tx1"/>
                    </a:solidFill>
                  </a:rPr>
                  <a:t>SIGNAL</a:t>
                </a:r>
              </a:p>
            </p:txBody>
          </p:sp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D2F3BEA-D676-42B8-8970-0B11094F5D9B}"/>
                </a:ext>
              </a:extLst>
            </p:cNvPr>
            <p:cNvSpPr/>
            <p:nvPr/>
          </p:nvSpPr>
          <p:spPr>
            <a:xfrm>
              <a:off x="2905126" y="5000625"/>
              <a:ext cx="1819274" cy="37147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H2</a:t>
              </a:r>
            </a:p>
          </p:txBody>
        </p: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50D70503-90B1-4092-9263-F8B96152E10A}"/>
                </a:ext>
              </a:extLst>
            </p:cNvPr>
            <p:cNvCxnSpPr>
              <a:cxnSpLocks/>
              <a:stCxn id="40" idx="0"/>
              <a:endCxn id="44" idx="2"/>
            </p:cNvCxnSpPr>
            <p:nvPr/>
          </p:nvCxnSpPr>
          <p:spPr>
            <a:xfrm rot="16200000" flipV="1">
              <a:off x="3373131" y="4558992"/>
              <a:ext cx="276841" cy="606425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A4DA8A98-3D2A-4EAB-9F4B-6BF70D9618ED}"/>
                </a:ext>
              </a:extLst>
            </p:cNvPr>
            <p:cNvCxnSpPr>
              <a:cxnSpLocks/>
              <a:stCxn id="40" idx="0"/>
              <a:endCxn id="45" idx="2"/>
            </p:cNvCxnSpPr>
            <p:nvPr/>
          </p:nvCxnSpPr>
          <p:spPr>
            <a:xfrm rot="5400000" flipH="1" flipV="1">
              <a:off x="3676345" y="4862207"/>
              <a:ext cx="276836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D567E095-E5B4-4812-A830-6CF3C0DE5439}"/>
                </a:ext>
              </a:extLst>
            </p:cNvPr>
            <p:cNvCxnSpPr>
              <a:cxnSpLocks/>
              <a:stCxn id="40" idx="0"/>
              <a:endCxn id="46" idx="2"/>
            </p:cNvCxnSpPr>
            <p:nvPr/>
          </p:nvCxnSpPr>
          <p:spPr>
            <a:xfrm rot="5400000" flipH="1" flipV="1">
              <a:off x="3979557" y="4558995"/>
              <a:ext cx="276836" cy="60642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5EAFF2B-8E1E-45A2-9204-47873B734FA0}"/>
              </a:ext>
            </a:extLst>
          </p:cNvPr>
          <p:cNvGrpSpPr/>
          <p:nvPr/>
        </p:nvGrpSpPr>
        <p:grpSpPr>
          <a:xfrm>
            <a:off x="7355682" y="4276717"/>
            <a:ext cx="1819275" cy="1152533"/>
            <a:chOff x="2905125" y="4219567"/>
            <a:chExt cx="1819275" cy="1152533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92BF531-1DB0-4231-A8E0-1637C652CF58}"/>
                </a:ext>
              </a:extLst>
            </p:cNvPr>
            <p:cNvGrpSpPr/>
            <p:nvPr/>
          </p:nvGrpSpPr>
          <p:grpSpPr>
            <a:xfrm>
              <a:off x="2905125" y="4219567"/>
              <a:ext cx="1819275" cy="504218"/>
              <a:chOff x="2905125" y="4219571"/>
              <a:chExt cx="1614487" cy="409576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9EF2300-408E-48C4-B2E2-9752BB685282}"/>
                  </a:ext>
                </a:extLst>
              </p:cNvPr>
              <p:cNvSpPr/>
              <p:nvPr/>
            </p:nvSpPr>
            <p:spPr>
              <a:xfrm>
                <a:off x="2905125" y="4219571"/>
                <a:ext cx="538162" cy="40957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/>
                  <a:t>12V 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1DFEBE5-CDEA-4387-9167-21762CB3871E}"/>
                  </a:ext>
                </a:extLst>
              </p:cNvPr>
              <p:cNvSpPr/>
              <p:nvPr/>
            </p:nvSpPr>
            <p:spPr>
              <a:xfrm>
                <a:off x="3443288" y="4219572"/>
                <a:ext cx="538162" cy="40957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/>
                  <a:t>GND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DAD643B-3759-4689-BB4C-1A50874DDA97}"/>
                  </a:ext>
                </a:extLst>
              </p:cNvPr>
              <p:cNvSpPr/>
              <p:nvPr/>
            </p:nvSpPr>
            <p:spPr>
              <a:xfrm>
                <a:off x="3981450" y="4219572"/>
                <a:ext cx="538162" cy="40957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>
                    <a:solidFill>
                      <a:schemeClr val="tx1"/>
                    </a:solidFill>
                  </a:rPr>
                  <a:t>SIGNAL</a:t>
                </a: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5CD5635-9C40-4BAA-8CC1-51AC452E4993}"/>
                </a:ext>
              </a:extLst>
            </p:cNvPr>
            <p:cNvSpPr/>
            <p:nvPr/>
          </p:nvSpPr>
          <p:spPr>
            <a:xfrm>
              <a:off x="2905126" y="5000625"/>
              <a:ext cx="1819274" cy="37147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H3</a:t>
              </a:r>
            </a:p>
          </p:txBody>
        </p:sp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7E004615-2A58-46E1-9D0E-FDB9185DC611}"/>
                </a:ext>
              </a:extLst>
            </p:cNvPr>
            <p:cNvCxnSpPr>
              <a:cxnSpLocks/>
              <a:stCxn id="49" idx="0"/>
              <a:endCxn id="53" idx="2"/>
            </p:cNvCxnSpPr>
            <p:nvPr/>
          </p:nvCxnSpPr>
          <p:spPr>
            <a:xfrm rot="16200000" flipV="1">
              <a:off x="3373131" y="4558992"/>
              <a:ext cx="276841" cy="606425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: Elbow 50">
              <a:extLst>
                <a:ext uri="{FF2B5EF4-FFF2-40B4-BE49-F238E27FC236}">
                  <a16:creationId xmlns:a16="http://schemas.microsoft.com/office/drawing/2014/main" id="{D728A74E-D934-4EB0-84EE-A029EA553413}"/>
                </a:ext>
              </a:extLst>
            </p:cNvPr>
            <p:cNvCxnSpPr>
              <a:cxnSpLocks/>
              <a:stCxn id="49" idx="0"/>
              <a:endCxn id="54" idx="2"/>
            </p:cNvCxnSpPr>
            <p:nvPr/>
          </p:nvCxnSpPr>
          <p:spPr>
            <a:xfrm rot="5400000" flipH="1" flipV="1">
              <a:off x="3676345" y="4862207"/>
              <a:ext cx="276836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2BE98102-8FD2-43E0-B231-F33B8A2738EA}"/>
                </a:ext>
              </a:extLst>
            </p:cNvPr>
            <p:cNvCxnSpPr>
              <a:cxnSpLocks/>
              <a:stCxn id="49" idx="0"/>
              <a:endCxn id="55" idx="2"/>
            </p:cNvCxnSpPr>
            <p:nvPr/>
          </p:nvCxnSpPr>
          <p:spPr>
            <a:xfrm rot="5400000" flipH="1" flipV="1">
              <a:off x="3979557" y="4558995"/>
              <a:ext cx="276836" cy="60642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D56746B-251E-4761-A24B-8C03E7B1BF54}"/>
              </a:ext>
            </a:extLst>
          </p:cNvPr>
          <p:cNvGrpSpPr/>
          <p:nvPr/>
        </p:nvGrpSpPr>
        <p:grpSpPr>
          <a:xfrm>
            <a:off x="9596439" y="4276717"/>
            <a:ext cx="1819275" cy="1152533"/>
            <a:chOff x="2905125" y="4219567"/>
            <a:chExt cx="1819275" cy="115253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692FDF62-2DE5-484E-82F2-915CCD6E7802}"/>
                </a:ext>
              </a:extLst>
            </p:cNvPr>
            <p:cNvGrpSpPr/>
            <p:nvPr/>
          </p:nvGrpSpPr>
          <p:grpSpPr>
            <a:xfrm>
              <a:off x="2905125" y="4219567"/>
              <a:ext cx="1819275" cy="504218"/>
              <a:chOff x="2905125" y="4219571"/>
              <a:chExt cx="1614487" cy="409576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0AF21446-20B8-4F56-8DE5-0BCD1DADBBF0}"/>
                  </a:ext>
                </a:extLst>
              </p:cNvPr>
              <p:cNvSpPr/>
              <p:nvPr/>
            </p:nvSpPr>
            <p:spPr>
              <a:xfrm>
                <a:off x="2905125" y="4219571"/>
                <a:ext cx="538162" cy="409575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/>
                  <a:t>12V 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AAB6235-B920-4181-85CC-1B38E0C26DE5}"/>
                  </a:ext>
                </a:extLst>
              </p:cNvPr>
              <p:cNvSpPr/>
              <p:nvPr/>
            </p:nvSpPr>
            <p:spPr>
              <a:xfrm>
                <a:off x="3981450" y="4219572"/>
                <a:ext cx="538162" cy="40957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>
                    <a:solidFill>
                      <a:schemeClr val="tx1"/>
                    </a:solidFill>
                  </a:rPr>
                  <a:t>SIGNAL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3FE41C4-F20C-4464-831D-7E8AE59903E2}"/>
                </a:ext>
              </a:extLst>
            </p:cNvPr>
            <p:cNvSpPr/>
            <p:nvPr/>
          </p:nvSpPr>
          <p:spPr>
            <a:xfrm>
              <a:off x="2905126" y="5000625"/>
              <a:ext cx="1819274" cy="37147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TEMP</a:t>
              </a:r>
            </a:p>
          </p:txBody>
        </p: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E6551ED0-107E-4764-A118-A06B78505587}"/>
                </a:ext>
              </a:extLst>
            </p:cNvPr>
            <p:cNvCxnSpPr>
              <a:cxnSpLocks/>
              <a:stCxn id="58" idx="0"/>
              <a:endCxn id="62" idx="2"/>
            </p:cNvCxnSpPr>
            <p:nvPr/>
          </p:nvCxnSpPr>
          <p:spPr>
            <a:xfrm rot="16200000" flipV="1">
              <a:off x="3373131" y="4558992"/>
              <a:ext cx="276841" cy="606425"/>
            </a:xfrm>
            <a:prstGeom prst="bentConnector3">
              <a:avLst/>
            </a:prstGeom>
            <a:ln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AFA0EE89-8D69-4E9B-BF4E-C25466C5DC1D}"/>
                </a:ext>
              </a:extLst>
            </p:cNvPr>
            <p:cNvCxnSpPr>
              <a:cxnSpLocks/>
              <a:stCxn id="58" idx="0"/>
              <a:endCxn id="64" idx="2"/>
            </p:cNvCxnSpPr>
            <p:nvPr/>
          </p:nvCxnSpPr>
          <p:spPr>
            <a:xfrm rot="5400000" flipH="1" flipV="1">
              <a:off x="3979557" y="4558995"/>
              <a:ext cx="276836" cy="606425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53" name="Rectangle 2052">
            <a:extLst>
              <a:ext uri="{FF2B5EF4-FFF2-40B4-BE49-F238E27FC236}">
                <a16:creationId xmlns:a16="http://schemas.microsoft.com/office/drawing/2014/main" id="{C4C7F3D0-4C50-4711-BFCC-EE6451A7A1EE}"/>
              </a:ext>
            </a:extLst>
          </p:cNvPr>
          <p:cNvSpPr/>
          <p:nvPr/>
        </p:nvSpPr>
        <p:spPr>
          <a:xfrm>
            <a:off x="2928302" y="5734050"/>
            <a:ext cx="6246655" cy="366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ULTRASOUND METER 4-20MA SENSORS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52073F7-AC1A-493F-BB79-176F267500D8}"/>
              </a:ext>
            </a:extLst>
          </p:cNvPr>
          <p:cNvSpPr/>
          <p:nvPr/>
        </p:nvSpPr>
        <p:spPr>
          <a:xfrm>
            <a:off x="9596439" y="5734050"/>
            <a:ext cx="1842295" cy="3662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PT SENSOR</a:t>
            </a:r>
          </a:p>
        </p:txBody>
      </p:sp>
    </p:spTree>
    <p:extLst>
      <p:ext uri="{BB962C8B-B14F-4D97-AF65-F5344CB8AC3E}">
        <p14:creationId xmlns:p14="http://schemas.microsoft.com/office/powerpoint/2010/main" val="1599268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FC36D7C6-1854-4830-8C0F-E2B7215AC937" descr="FC36D7C6-1854-4830-8C0F-E2B7215AC937">
            <a:extLst>
              <a:ext uri="{FF2B5EF4-FFF2-40B4-BE49-F238E27FC236}">
                <a16:creationId xmlns:a16="http://schemas.microsoft.com/office/drawing/2014/main" id="{9FF034B0-68BC-47F5-A0FF-620D2083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" y="927100"/>
            <a:ext cx="4943475" cy="3707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2E9673-2F7F-4F50-9E2F-66D5972F7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402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BEHUIZING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4BAAB-AB54-414B-AAB8-983741902921}"/>
              </a:ext>
            </a:extLst>
          </p:cNvPr>
          <p:cNvSpPr/>
          <p:nvPr/>
        </p:nvSpPr>
        <p:spPr>
          <a:xfrm>
            <a:off x="6600825" y="365126"/>
            <a:ext cx="5324475" cy="64928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BOVENKANT VAN BEHUIZING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ER IS EEN DEKSEL DAT DIENT DOOR 4 PLASTIEKE SCHROEVEN DICHT GEMAAKT TE WORDEN.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ER IS EEN QR CODE OM INFORMATIE OVER HET DEVICE TE KUNNEN VERGARDEREN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ONDERKANT VAN BEHUIZING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ER ZIJN 4 WATERDICHT WARTELS VOOR ELKE SENSOR KABEL.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RECHTERZIJDE BEHUIZING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ER IS EEN WATERDICHT WARTELS VOOR DE 12V EXTERNAL VOEDING.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ER IS EEN WARTEL VOOR DE ANTENNA.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ER IS EEN WATERDICHT UITGANG VOOR EEN USB DEBUG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AAN DE LINKERZIJDE VAN DE BEHUIZING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ER IS EEN UP KNOPJE EN DOWN KNOPJE OM DOOR DE METINGEN LIJST TE KUNNEN GAAN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WANNEER HET BOVEN KNOPJE WORDT INGEDRUKT BIJ DE LAATSTE METING DAN WORDT METEEN EEN NIEUW METING.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DE ONDERSTE KNOPJE IS DE RESET KNOPJE EN ZORGT VOOR DAT DE DEVICE OPNIEUW START.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4099" name="33B6A694-9987-4BA3-922D-50723FBB77F9" descr="33B6A694-9987-4BA3-922D-50723FBB77F9">
            <a:extLst>
              <a:ext uri="{FF2B5EF4-FFF2-40B4-BE49-F238E27FC236}">
                <a16:creationId xmlns:a16="http://schemas.microsoft.com/office/drawing/2014/main" id="{3FC85A5D-5915-455A-9508-B0E8760F54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47" b="41493"/>
          <a:stretch/>
        </p:blipFill>
        <p:spPr bwMode="auto">
          <a:xfrm>
            <a:off x="564356" y="4914900"/>
            <a:ext cx="4633635" cy="1218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1057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1023</Words>
  <Application>Microsoft Office PowerPoint</Application>
  <PresentationFormat>Widescreen</PresentationFormat>
  <Paragraphs>242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Gebruikershandleiding uitstroombakken Debietmeters</vt:lpstr>
      <vt:lpstr>Doel</vt:lpstr>
      <vt:lpstr>Type opstellingen</vt:lpstr>
      <vt:lpstr>Type Systeem A</vt:lpstr>
      <vt:lpstr>Type System B</vt:lpstr>
      <vt:lpstr>Type Systeem C  </vt:lpstr>
      <vt:lpstr>3 type Formule’s</vt:lpstr>
      <vt:lpstr>Configuratie Device</vt:lpstr>
      <vt:lpstr>Fysieke Omschrijving</vt:lpstr>
      <vt:lpstr>Device omschrijving</vt:lpstr>
      <vt:lpstr>PowerPoint Presentation</vt:lpstr>
      <vt:lpstr>PowerPoint Presentation</vt:lpstr>
      <vt:lpstr>BEHUIZING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Gebruikersaanleiding uitstroombakken Debietmeters</dc:title>
  <dc:creator>Lenne, Laurent</dc:creator>
  <cp:lastModifiedBy>Laurent Lenne</cp:lastModifiedBy>
  <cp:revision>11</cp:revision>
  <dcterms:created xsi:type="dcterms:W3CDTF">2019-07-23T16:11:36Z</dcterms:created>
  <dcterms:modified xsi:type="dcterms:W3CDTF">2019-11-23T12:14:44Z</dcterms:modified>
</cp:coreProperties>
</file>